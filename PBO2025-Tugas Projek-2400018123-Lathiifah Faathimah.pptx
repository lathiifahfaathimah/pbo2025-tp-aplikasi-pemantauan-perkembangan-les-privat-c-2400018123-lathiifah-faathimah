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asika" charset="1" panose="00000000000000000000"/>
      <p:regular r:id="rId21"/>
    </p:embeddedFont>
    <p:embeddedFont>
      <p:font typeface="Poppins" charset="1" panose="00000500000000000000"/>
      <p:regular r:id="rId22"/>
    </p:embeddedFont>
    <p:embeddedFont>
      <p:font typeface="Poppins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 Id="rId5"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2.png" Type="http://schemas.openxmlformats.org/officeDocument/2006/relationships/image"/><Relationship Id="rId5"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14.jpeg" Type="http://schemas.openxmlformats.org/officeDocument/2006/relationships/image"/><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15.png" Type="http://schemas.openxmlformats.org/officeDocument/2006/relationships/image"/><Relationship Id="rId5"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2.png" Type="http://schemas.openxmlformats.org/officeDocument/2006/relationships/image"/><Relationship Id="rId5"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29.png" Type="http://schemas.openxmlformats.org/officeDocument/2006/relationships/image"/><Relationship Id="rId5"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0">
            <a:off x="-3584411" y="5143500"/>
            <a:ext cx="11970327" cy="8229600"/>
          </a:xfrm>
          <a:custGeom>
            <a:avLst/>
            <a:gdLst/>
            <a:ahLst/>
            <a:cxnLst/>
            <a:rect r="r" b="b" t="t" l="l"/>
            <a:pathLst>
              <a:path h="8229600" w="11970327">
                <a:moveTo>
                  <a:pt x="0" y="0"/>
                </a:moveTo>
                <a:lnTo>
                  <a:pt x="11970327" y="0"/>
                </a:lnTo>
                <a:lnTo>
                  <a:pt x="11970327" y="8229600"/>
                </a:lnTo>
                <a:lnTo>
                  <a:pt x="0" y="8229600"/>
                </a:lnTo>
                <a:lnTo>
                  <a:pt x="0" y="0"/>
                </a:lnTo>
                <a:close/>
              </a:path>
            </a:pathLst>
          </a:custGeom>
          <a:blipFill>
            <a:blip r:embed="rId2"/>
            <a:stretch>
              <a:fillRect l="0" t="0" r="0" b="0"/>
            </a:stretch>
          </a:blipFill>
        </p:spPr>
      </p:sp>
      <p:sp>
        <p:nvSpPr>
          <p:cNvPr name="Freeform 3" id="3"/>
          <p:cNvSpPr/>
          <p:nvPr/>
        </p:nvSpPr>
        <p:spPr>
          <a:xfrm flipH="true" flipV="false" rot="0">
            <a:off x="10678405" y="5143500"/>
            <a:ext cx="11970327" cy="8229600"/>
          </a:xfrm>
          <a:custGeom>
            <a:avLst/>
            <a:gdLst/>
            <a:ahLst/>
            <a:cxnLst/>
            <a:rect r="r" b="b" t="t" l="l"/>
            <a:pathLst>
              <a:path h="8229600" w="11970327">
                <a:moveTo>
                  <a:pt x="11970327" y="0"/>
                </a:moveTo>
                <a:lnTo>
                  <a:pt x="0" y="0"/>
                </a:lnTo>
                <a:lnTo>
                  <a:pt x="0" y="8229600"/>
                </a:lnTo>
                <a:lnTo>
                  <a:pt x="11970327" y="8229600"/>
                </a:lnTo>
                <a:lnTo>
                  <a:pt x="11970327" y="0"/>
                </a:lnTo>
                <a:close/>
              </a:path>
            </a:pathLst>
          </a:custGeom>
          <a:blipFill>
            <a:blip r:embed="rId2"/>
            <a:stretch>
              <a:fillRect l="0" t="0" r="0" b="0"/>
            </a:stretch>
          </a:blipFill>
        </p:spPr>
      </p:sp>
      <p:sp>
        <p:nvSpPr>
          <p:cNvPr name="Freeform 4" id="4"/>
          <p:cNvSpPr/>
          <p:nvPr/>
        </p:nvSpPr>
        <p:spPr>
          <a:xfrm flipH="false" flipV="false" rot="0">
            <a:off x="13630524" y="1359389"/>
            <a:ext cx="2256724" cy="2256724"/>
          </a:xfrm>
          <a:custGeom>
            <a:avLst/>
            <a:gdLst/>
            <a:ahLst/>
            <a:cxnLst/>
            <a:rect r="r" b="b" t="t" l="l"/>
            <a:pathLst>
              <a:path h="2256724" w="2256724">
                <a:moveTo>
                  <a:pt x="0" y="0"/>
                </a:moveTo>
                <a:lnTo>
                  <a:pt x="2256724" y="0"/>
                </a:lnTo>
                <a:lnTo>
                  <a:pt x="2256724" y="2256724"/>
                </a:lnTo>
                <a:lnTo>
                  <a:pt x="0" y="2256724"/>
                </a:lnTo>
                <a:lnTo>
                  <a:pt x="0" y="0"/>
                </a:lnTo>
                <a:close/>
              </a:path>
            </a:pathLst>
          </a:custGeom>
          <a:blipFill>
            <a:blip r:embed="rId3"/>
            <a:stretch>
              <a:fillRect l="0" t="0" r="0" b="0"/>
            </a:stretch>
          </a:blipFill>
        </p:spPr>
      </p:sp>
      <p:sp>
        <p:nvSpPr>
          <p:cNvPr name="Freeform 5" id="5"/>
          <p:cNvSpPr/>
          <p:nvPr/>
        </p:nvSpPr>
        <p:spPr>
          <a:xfrm flipH="false" flipV="false" rot="-2795329">
            <a:off x="13563652" y="-3987989"/>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4"/>
            <a:stretch>
              <a:fillRect l="0" t="0" r="0" b="0"/>
            </a:stretch>
          </a:blipFill>
        </p:spPr>
      </p:sp>
      <p:sp>
        <p:nvSpPr>
          <p:cNvPr name="Freeform 6" id="6"/>
          <p:cNvSpPr/>
          <p:nvPr/>
        </p:nvSpPr>
        <p:spPr>
          <a:xfrm flipH="false" flipV="false" rot="-6753573">
            <a:off x="-1902184" y="-3987989"/>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4"/>
            <a:stretch>
              <a:fillRect l="0" t="0" r="0" b="0"/>
            </a:stretch>
          </a:blipFill>
        </p:spPr>
      </p:sp>
      <p:sp>
        <p:nvSpPr>
          <p:cNvPr name="TextBox 7" id="7"/>
          <p:cNvSpPr txBox="true"/>
          <p:nvPr/>
        </p:nvSpPr>
        <p:spPr>
          <a:xfrm rot="0">
            <a:off x="39490" y="823829"/>
            <a:ext cx="18209021" cy="1526540"/>
          </a:xfrm>
          <a:prstGeom prst="rect">
            <a:avLst/>
          </a:prstGeom>
        </p:spPr>
        <p:txBody>
          <a:bodyPr anchor="t" rtlCol="false" tIns="0" lIns="0" bIns="0" rIns="0">
            <a:spAutoFit/>
          </a:bodyPr>
          <a:lstStyle/>
          <a:p>
            <a:pPr algn="ctr">
              <a:lnSpc>
                <a:spcPts val="11305"/>
              </a:lnSpc>
            </a:pPr>
            <a:r>
              <a:rPr lang="en-US" sz="9500">
                <a:solidFill>
                  <a:srgbClr val="093C80"/>
                </a:solidFill>
                <a:latin typeface="Brasika"/>
                <a:ea typeface="Brasika"/>
                <a:cs typeface="Brasika"/>
                <a:sym typeface="Brasika"/>
              </a:rPr>
              <a:t>APLIKASI PEMANTAUAN</a:t>
            </a:r>
          </a:p>
        </p:txBody>
      </p:sp>
      <p:sp>
        <p:nvSpPr>
          <p:cNvPr name="Freeform 8" id="8"/>
          <p:cNvSpPr/>
          <p:nvPr/>
        </p:nvSpPr>
        <p:spPr>
          <a:xfrm flipH="false" flipV="false" rot="0">
            <a:off x="2400752" y="3442641"/>
            <a:ext cx="1523222" cy="1523222"/>
          </a:xfrm>
          <a:custGeom>
            <a:avLst/>
            <a:gdLst/>
            <a:ahLst/>
            <a:cxnLst/>
            <a:rect r="r" b="b" t="t" l="l"/>
            <a:pathLst>
              <a:path h="1523222" w="1523222">
                <a:moveTo>
                  <a:pt x="0" y="0"/>
                </a:moveTo>
                <a:lnTo>
                  <a:pt x="1523223" y="0"/>
                </a:lnTo>
                <a:lnTo>
                  <a:pt x="1523223" y="1523222"/>
                </a:lnTo>
                <a:lnTo>
                  <a:pt x="0" y="1523222"/>
                </a:lnTo>
                <a:lnTo>
                  <a:pt x="0" y="0"/>
                </a:lnTo>
                <a:close/>
              </a:path>
            </a:pathLst>
          </a:custGeom>
          <a:blipFill>
            <a:blip r:embed="rId3"/>
            <a:stretch>
              <a:fillRect l="0" t="0" r="0" b="0"/>
            </a:stretch>
          </a:blipFill>
        </p:spPr>
      </p:sp>
      <p:sp>
        <p:nvSpPr>
          <p:cNvPr name="TextBox 9" id="9"/>
          <p:cNvSpPr txBox="true"/>
          <p:nvPr/>
        </p:nvSpPr>
        <p:spPr>
          <a:xfrm rot="0">
            <a:off x="2994742" y="6021778"/>
            <a:ext cx="12298516" cy="5005705"/>
          </a:xfrm>
          <a:prstGeom prst="rect">
            <a:avLst/>
          </a:prstGeom>
        </p:spPr>
        <p:txBody>
          <a:bodyPr anchor="t" rtlCol="false" tIns="0" lIns="0" bIns="0" rIns="0">
            <a:spAutoFit/>
          </a:bodyPr>
          <a:lstStyle/>
          <a:p>
            <a:pPr algn="ctr">
              <a:lnSpc>
                <a:spcPts val="5950"/>
              </a:lnSpc>
            </a:pPr>
            <a:r>
              <a:rPr lang="en-US" sz="5000">
                <a:solidFill>
                  <a:srgbClr val="093C80"/>
                </a:solidFill>
                <a:latin typeface="Poppins"/>
                <a:ea typeface="Poppins"/>
                <a:cs typeface="Poppins"/>
                <a:sym typeface="Poppins"/>
              </a:rPr>
              <a:t>Lathiifah Faathimah</a:t>
            </a:r>
          </a:p>
          <a:p>
            <a:pPr algn="ctr">
              <a:lnSpc>
                <a:spcPts val="5950"/>
              </a:lnSpc>
            </a:pPr>
            <a:r>
              <a:rPr lang="en-US" sz="5000">
                <a:solidFill>
                  <a:srgbClr val="093C80"/>
                </a:solidFill>
                <a:latin typeface="Poppins"/>
                <a:ea typeface="Poppins"/>
                <a:cs typeface="Poppins"/>
                <a:sym typeface="Poppins"/>
              </a:rPr>
              <a:t>24000181213</a:t>
            </a:r>
          </a:p>
          <a:p>
            <a:pPr algn="ctr">
              <a:lnSpc>
                <a:spcPts val="5950"/>
              </a:lnSpc>
            </a:pPr>
            <a:r>
              <a:rPr lang="en-US" sz="5000">
                <a:solidFill>
                  <a:srgbClr val="093C80"/>
                </a:solidFill>
                <a:latin typeface="Poppins"/>
                <a:ea typeface="Poppins"/>
                <a:cs typeface="Poppins"/>
                <a:sym typeface="Poppins"/>
              </a:rPr>
              <a:t>C</a:t>
            </a:r>
          </a:p>
          <a:p>
            <a:pPr algn="ctr">
              <a:lnSpc>
                <a:spcPts val="5950"/>
              </a:lnSpc>
            </a:pPr>
          </a:p>
          <a:p>
            <a:pPr algn="ctr">
              <a:lnSpc>
                <a:spcPts val="5950"/>
              </a:lnSpc>
            </a:pPr>
            <a:r>
              <a:rPr lang="en-US" sz="5000">
                <a:solidFill>
                  <a:srgbClr val="093C80"/>
                </a:solidFill>
                <a:latin typeface="Poppins"/>
                <a:ea typeface="Poppins"/>
                <a:cs typeface="Poppins"/>
                <a:sym typeface="Poppins"/>
              </a:rPr>
              <a:t>DOSEN PENGAMPU : Ali Tarmuji S.T, M.Cs</a:t>
            </a:r>
          </a:p>
          <a:p>
            <a:pPr algn="ctr">
              <a:lnSpc>
                <a:spcPts val="5950"/>
              </a:lnSpc>
            </a:pPr>
          </a:p>
          <a:p>
            <a:pPr algn="ctr">
              <a:lnSpc>
                <a:spcPts val="3569"/>
              </a:lnSpc>
              <a:spcBef>
                <a:spcPct val="0"/>
              </a:spcBef>
            </a:pPr>
          </a:p>
        </p:txBody>
      </p:sp>
      <p:sp>
        <p:nvSpPr>
          <p:cNvPr name="TextBox 10" id="10"/>
          <p:cNvSpPr txBox="true"/>
          <p:nvPr/>
        </p:nvSpPr>
        <p:spPr>
          <a:xfrm rot="0">
            <a:off x="39490" y="2683744"/>
            <a:ext cx="18209021" cy="2955290"/>
          </a:xfrm>
          <a:prstGeom prst="rect">
            <a:avLst/>
          </a:prstGeom>
        </p:spPr>
        <p:txBody>
          <a:bodyPr anchor="t" rtlCol="false" tIns="0" lIns="0" bIns="0" rIns="0">
            <a:spAutoFit/>
          </a:bodyPr>
          <a:lstStyle/>
          <a:p>
            <a:pPr algn="ctr">
              <a:lnSpc>
                <a:spcPts val="11305"/>
              </a:lnSpc>
            </a:pPr>
            <a:r>
              <a:rPr lang="en-US" sz="9500">
                <a:solidFill>
                  <a:srgbClr val="093C80"/>
                </a:solidFill>
                <a:latin typeface="Brasika"/>
                <a:ea typeface="Brasika"/>
                <a:cs typeface="Brasika"/>
                <a:sym typeface="Brasika"/>
              </a:rPr>
              <a:t>PERKEMBANGAN MURID</a:t>
            </a:r>
          </a:p>
          <a:p>
            <a:pPr algn="ctr">
              <a:lnSpc>
                <a:spcPts val="11305"/>
              </a:lnSpc>
            </a:pPr>
            <a:r>
              <a:rPr lang="en-US" sz="9500">
                <a:solidFill>
                  <a:srgbClr val="093C80"/>
                </a:solidFill>
                <a:latin typeface="Brasika"/>
                <a:ea typeface="Brasika"/>
                <a:cs typeface="Brasika"/>
                <a:sym typeface="Brasika"/>
              </a:rPr>
              <a:t>LES PRIVAT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grpSp>
        <p:nvGrpSpPr>
          <p:cNvPr name="Group 4" id="4"/>
          <p:cNvGrpSpPr/>
          <p:nvPr/>
        </p:nvGrpSpPr>
        <p:grpSpPr>
          <a:xfrm rot="0">
            <a:off x="8958355" y="3227664"/>
            <a:ext cx="4797481" cy="778154"/>
            <a:chOff x="0" y="0"/>
            <a:chExt cx="1727799" cy="280250"/>
          </a:xfrm>
        </p:grpSpPr>
        <p:sp>
          <p:nvSpPr>
            <p:cNvPr name="Freeform 5" id="5"/>
            <p:cNvSpPr/>
            <p:nvPr/>
          </p:nvSpPr>
          <p:spPr>
            <a:xfrm flipH="false" flipV="false" rot="0">
              <a:off x="0" y="0"/>
              <a:ext cx="1727799" cy="280250"/>
            </a:xfrm>
            <a:custGeom>
              <a:avLst/>
              <a:gdLst/>
              <a:ahLst/>
              <a:cxnLst/>
              <a:rect r="r" b="b" t="t" l="l"/>
              <a:pathLst>
                <a:path h="280250" w="1727799">
                  <a:moveTo>
                    <a:pt x="140125" y="0"/>
                  </a:moveTo>
                  <a:lnTo>
                    <a:pt x="1587674" y="0"/>
                  </a:lnTo>
                  <a:cubicBezTo>
                    <a:pt x="1665063" y="0"/>
                    <a:pt x="1727799" y="62736"/>
                    <a:pt x="1727799" y="140125"/>
                  </a:cubicBezTo>
                  <a:lnTo>
                    <a:pt x="1727799" y="140125"/>
                  </a:lnTo>
                  <a:cubicBezTo>
                    <a:pt x="1727799" y="177289"/>
                    <a:pt x="1713036" y="212930"/>
                    <a:pt x="1686758" y="239208"/>
                  </a:cubicBezTo>
                  <a:cubicBezTo>
                    <a:pt x="1660479" y="265487"/>
                    <a:pt x="1624838" y="280250"/>
                    <a:pt x="1587674" y="280250"/>
                  </a:cubicBezTo>
                  <a:lnTo>
                    <a:pt x="140125" y="280250"/>
                  </a:lnTo>
                  <a:cubicBezTo>
                    <a:pt x="102962" y="280250"/>
                    <a:pt x="67320" y="265487"/>
                    <a:pt x="41042" y="239208"/>
                  </a:cubicBezTo>
                  <a:cubicBezTo>
                    <a:pt x="14763" y="212930"/>
                    <a:pt x="0" y="177289"/>
                    <a:pt x="0" y="140125"/>
                  </a:cubicBezTo>
                  <a:lnTo>
                    <a:pt x="0" y="140125"/>
                  </a:lnTo>
                  <a:cubicBezTo>
                    <a:pt x="0" y="102962"/>
                    <a:pt x="14763" y="67320"/>
                    <a:pt x="41042" y="41042"/>
                  </a:cubicBezTo>
                  <a:cubicBezTo>
                    <a:pt x="67320" y="14763"/>
                    <a:pt x="102962" y="0"/>
                    <a:pt x="140125" y="0"/>
                  </a:cubicBezTo>
                  <a:close/>
                </a:path>
              </a:pathLst>
            </a:custGeom>
            <a:solidFill>
              <a:srgbClr val="FDD0E6"/>
            </a:solidFill>
          </p:spPr>
        </p:sp>
        <p:sp>
          <p:nvSpPr>
            <p:cNvPr name="TextBox 6" id="6"/>
            <p:cNvSpPr txBox="true"/>
            <p:nvPr/>
          </p:nvSpPr>
          <p:spPr>
            <a:xfrm>
              <a:off x="0" y="-38100"/>
              <a:ext cx="1727799" cy="31835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4896711" y="1838026"/>
            <a:ext cx="1705910" cy="1705910"/>
          </a:xfrm>
          <a:custGeom>
            <a:avLst/>
            <a:gdLst/>
            <a:ahLst/>
            <a:cxnLst/>
            <a:rect r="r" b="b" t="t" l="l"/>
            <a:pathLst>
              <a:path h="1705910" w="1705910">
                <a:moveTo>
                  <a:pt x="0" y="0"/>
                </a:moveTo>
                <a:lnTo>
                  <a:pt x="1705911" y="0"/>
                </a:lnTo>
                <a:lnTo>
                  <a:pt x="1705911" y="1705910"/>
                </a:lnTo>
                <a:lnTo>
                  <a:pt x="0" y="1705910"/>
                </a:lnTo>
                <a:lnTo>
                  <a:pt x="0" y="0"/>
                </a:lnTo>
                <a:close/>
              </a:path>
            </a:pathLst>
          </a:custGeom>
          <a:blipFill>
            <a:blip r:embed="rId3"/>
            <a:stretch>
              <a:fillRect l="0" t="0" r="0" b="0"/>
            </a:stretch>
          </a:blipFill>
        </p:spPr>
      </p:sp>
      <p:sp>
        <p:nvSpPr>
          <p:cNvPr name="Freeform 8" id="8"/>
          <p:cNvSpPr/>
          <p:nvPr/>
        </p:nvSpPr>
        <p:spPr>
          <a:xfrm flipH="false" flipV="false" rot="0">
            <a:off x="2403854" y="1838026"/>
            <a:ext cx="987435" cy="987435"/>
          </a:xfrm>
          <a:custGeom>
            <a:avLst/>
            <a:gdLst/>
            <a:ahLst/>
            <a:cxnLst/>
            <a:rect r="r" b="b" t="t" l="l"/>
            <a:pathLst>
              <a:path h="987435" w="987435">
                <a:moveTo>
                  <a:pt x="0" y="0"/>
                </a:moveTo>
                <a:lnTo>
                  <a:pt x="987435" y="0"/>
                </a:lnTo>
                <a:lnTo>
                  <a:pt x="987435" y="987435"/>
                </a:lnTo>
                <a:lnTo>
                  <a:pt x="0" y="987435"/>
                </a:lnTo>
                <a:lnTo>
                  <a:pt x="0" y="0"/>
                </a:lnTo>
                <a:close/>
              </a:path>
            </a:pathLst>
          </a:custGeom>
          <a:blipFill>
            <a:blip r:embed="rId3"/>
            <a:stretch>
              <a:fillRect l="0" t="0" r="0" b="0"/>
            </a:stretch>
          </a:blipFill>
        </p:spPr>
      </p:sp>
      <p:sp>
        <p:nvSpPr>
          <p:cNvPr name="Freeform 9" id="9"/>
          <p:cNvSpPr/>
          <p:nvPr/>
        </p:nvSpPr>
        <p:spPr>
          <a:xfrm flipH="false" flipV="false" rot="4365905">
            <a:off x="16106452" y="7082206"/>
            <a:ext cx="4363095" cy="4352187"/>
          </a:xfrm>
          <a:custGeom>
            <a:avLst/>
            <a:gdLst/>
            <a:ahLst/>
            <a:cxnLst/>
            <a:rect r="r" b="b" t="t" l="l"/>
            <a:pathLst>
              <a:path h="4352187" w="4363095">
                <a:moveTo>
                  <a:pt x="0" y="0"/>
                </a:moveTo>
                <a:lnTo>
                  <a:pt x="4363096" y="0"/>
                </a:lnTo>
                <a:lnTo>
                  <a:pt x="4363096" y="4352188"/>
                </a:lnTo>
                <a:lnTo>
                  <a:pt x="0" y="4352188"/>
                </a:lnTo>
                <a:lnTo>
                  <a:pt x="0" y="0"/>
                </a:lnTo>
                <a:close/>
              </a:path>
            </a:pathLst>
          </a:custGeom>
          <a:blipFill>
            <a:blip r:embed="rId4"/>
            <a:stretch>
              <a:fillRect l="0" t="0" r="0" b="0"/>
            </a:stretch>
          </a:blipFill>
        </p:spPr>
      </p:sp>
      <p:sp>
        <p:nvSpPr>
          <p:cNvPr name="Freeform 10" id="10"/>
          <p:cNvSpPr/>
          <p:nvPr/>
        </p:nvSpPr>
        <p:spPr>
          <a:xfrm flipH="false" flipV="false" rot="4365905">
            <a:off x="-2181548" y="-930546"/>
            <a:ext cx="4363095" cy="4352187"/>
          </a:xfrm>
          <a:custGeom>
            <a:avLst/>
            <a:gdLst/>
            <a:ahLst/>
            <a:cxnLst/>
            <a:rect r="r" b="b" t="t" l="l"/>
            <a:pathLst>
              <a:path h="4352187" w="4363095">
                <a:moveTo>
                  <a:pt x="0" y="0"/>
                </a:moveTo>
                <a:lnTo>
                  <a:pt x="4363096" y="0"/>
                </a:lnTo>
                <a:lnTo>
                  <a:pt x="4363096" y="4352187"/>
                </a:lnTo>
                <a:lnTo>
                  <a:pt x="0" y="4352187"/>
                </a:lnTo>
                <a:lnTo>
                  <a:pt x="0" y="0"/>
                </a:lnTo>
                <a:close/>
              </a:path>
            </a:pathLst>
          </a:custGeom>
          <a:blipFill>
            <a:blip r:embed="rId4"/>
            <a:stretch>
              <a:fillRect l="0" t="0" r="0" b="0"/>
            </a:stretch>
          </a:blipFill>
        </p:spPr>
      </p:sp>
      <p:sp>
        <p:nvSpPr>
          <p:cNvPr name="Freeform 11" id="11"/>
          <p:cNvSpPr/>
          <p:nvPr/>
        </p:nvSpPr>
        <p:spPr>
          <a:xfrm flipH="false" flipV="false" rot="0">
            <a:off x="345663" y="3227664"/>
            <a:ext cx="8296430" cy="5527496"/>
          </a:xfrm>
          <a:custGeom>
            <a:avLst/>
            <a:gdLst/>
            <a:ahLst/>
            <a:cxnLst/>
            <a:rect r="r" b="b" t="t" l="l"/>
            <a:pathLst>
              <a:path h="5527496" w="8296430">
                <a:moveTo>
                  <a:pt x="0" y="0"/>
                </a:moveTo>
                <a:lnTo>
                  <a:pt x="8296430" y="0"/>
                </a:lnTo>
                <a:lnTo>
                  <a:pt x="8296430" y="5527496"/>
                </a:lnTo>
                <a:lnTo>
                  <a:pt x="0" y="5527496"/>
                </a:lnTo>
                <a:lnTo>
                  <a:pt x="0" y="0"/>
                </a:lnTo>
                <a:close/>
              </a:path>
            </a:pathLst>
          </a:custGeom>
          <a:blipFill>
            <a:blip r:embed="rId5"/>
            <a:stretch>
              <a:fillRect l="0" t="0" r="0" b="0"/>
            </a:stretch>
          </a:blipFill>
        </p:spPr>
      </p:sp>
      <p:sp>
        <p:nvSpPr>
          <p:cNvPr name="TextBox 12" id="12"/>
          <p:cNvSpPr txBox="true"/>
          <p:nvPr/>
        </p:nvSpPr>
        <p:spPr>
          <a:xfrm rot="0">
            <a:off x="3205644" y="952500"/>
            <a:ext cx="11505423" cy="1536240"/>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PENDAHULUAN</a:t>
            </a:r>
          </a:p>
        </p:txBody>
      </p:sp>
      <p:sp>
        <p:nvSpPr>
          <p:cNvPr name="TextBox 13" id="13"/>
          <p:cNvSpPr txBox="true"/>
          <p:nvPr/>
        </p:nvSpPr>
        <p:spPr>
          <a:xfrm rot="0">
            <a:off x="8958355" y="4139168"/>
            <a:ext cx="8300945" cy="4302713"/>
          </a:xfrm>
          <a:prstGeom prst="rect">
            <a:avLst/>
          </a:prstGeom>
        </p:spPr>
        <p:txBody>
          <a:bodyPr anchor="t" rtlCol="false" tIns="0" lIns="0" bIns="0" rIns="0">
            <a:spAutoFit/>
          </a:bodyPr>
          <a:lstStyle/>
          <a:p>
            <a:pPr algn="just">
              <a:lnSpc>
                <a:spcPts val="3817"/>
              </a:lnSpc>
              <a:spcBef>
                <a:spcPct val="0"/>
              </a:spcBef>
            </a:pPr>
            <a:r>
              <a:rPr lang="en-US" sz="2726" spc="-54">
                <a:solidFill>
                  <a:srgbClr val="094595"/>
                </a:solidFill>
                <a:latin typeface="Poppins"/>
                <a:ea typeface="Poppins"/>
                <a:cs typeface="Poppins"/>
                <a:sym typeface="Poppins"/>
              </a:rPr>
              <a:t>Pencatatan manual data murid pada lembaga les privat seringkali tidak rapi, rawan hilang, dan sulit dianalisis. Aplikasi ini dirancang untuk mencatat data murid secara lengkap, termasuk nama, jumlah kehadiran, nilai, dan jenis paket les yang diikuti. Dengan sistem terkomputerisasi, status murid aktif atau tidak aktif dapat ditentukan secara otomatis berdasarkan kriteria yang jelas.</a:t>
            </a:r>
          </a:p>
        </p:txBody>
      </p:sp>
      <p:sp>
        <p:nvSpPr>
          <p:cNvPr name="TextBox 14" id="14"/>
          <p:cNvSpPr txBox="true"/>
          <p:nvPr/>
        </p:nvSpPr>
        <p:spPr>
          <a:xfrm rot="0">
            <a:off x="9440584" y="3208395"/>
            <a:ext cx="3833024" cy="690914"/>
          </a:xfrm>
          <a:prstGeom prst="rect">
            <a:avLst/>
          </a:prstGeom>
        </p:spPr>
        <p:txBody>
          <a:bodyPr anchor="t" rtlCol="false" tIns="0" lIns="0" bIns="0" rIns="0">
            <a:spAutoFit/>
          </a:bodyPr>
          <a:lstStyle/>
          <a:p>
            <a:pPr algn="ctr">
              <a:lnSpc>
                <a:spcPts val="5302"/>
              </a:lnSpc>
              <a:spcBef>
                <a:spcPct val="0"/>
              </a:spcBef>
            </a:pPr>
            <a:r>
              <a:rPr lang="en-US" b="true" sz="3787" spc="-75">
                <a:solidFill>
                  <a:srgbClr val="094595"/>
                </a:solidFill>
                <a:latin typeface="Poppins Bold"/>
                <a:ea typeface="Poppins Bold"/>
                <a:cs typeface="Poppins Bold"/>
                <a:sym typeface="Poppins Bold"/>
              </a:rPr>
              <a:t>Latar Belakang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TextBox 2" id="2"/>
          <p:cNvSpPr txBox="true"/>
          <p:nvPr/>
        </p:nvSpPr>
        <p:spPr>
          <a:xfrm rot="0">
            <a:off x="1028700" y="664069"/>
            <a:ext cx="9147958" cy="2984062"/>
          </a:xfrm>
          <a:prstGeom prst="rect">
            <a:avLst/>
          </a:prstGeom>
        </p:spPr>
        <p:txBody>
          <a:bodyPr anchor="t" rtlCol="false" tIns="0" lIns="0" bIns="0" rIns="0">
            <a:spAutoFit/>
          </a:bodyPr>
          <a:lstStyle/>
          <a:p>
            <a:pPr algn="l">
              <a:lnSpc>
                <a:spcPts val="11448"/>
              </a:lnSpc>
            </a:pPr>
            <a:r>
              <a:rPr lang="en-US" sz="9620">
                <a:solidFill>
                  <a:srgbClr val="093C80"/>
                </a:solidFill>
                <a:latin typeface="Brasika"/>
                <a:ea typeface="Brasika"/>
                <a:cs typeface="Brasika"/>
                <a:sym typeface="Brasika"/>
              </a:rPr>
              <a:t>RUMUSAN MASALAH</a:t>
            </a:r>
          </a:p>
        </p:txBody>
      </p:sp>
      <p:grpSp>
        <p:nvGrpSpPr>
          <p:cNvPr name="Group 3" id="3"/>
          <p:cNvGrpSpPr/>
          <p:nvPr/>
        </p:nvGrpSpPr>
        <p:grpSpPr>
          <a:xfrm rot="0">
            <a:off x="9318787" y="2591940"/>
            <a:ext cx="7940513" cy="7293374"/>
            <a:chOff x="0" y="0"/>
            <a:chExt cx="2859753" cy="2626688"/>
          </a:xfrm>
        </p:grpSpPr>
        <p:sp>
          <p:nvSpPr>
            <p:cNvPr name="Freeform 4" id="4"/>
            <p:cNvSpPr/>
            <p:nvPr/>
          </p:nvSpPr>
          <p:spPr>
            <a:xfrm flipH="false" flipV="false" rot="0">
              <a:off x="0" y="0"/>
              <a:ext cx="2859753" cy="2626688"/>
            </a:xfrm>
            <a:custGeom>
              <a:avLst/>
              <a:gdLst/>
              <a:ahLst/>
              <a:cxnLst/>
              <a:rect r="r" b="b" t="t" l="l"/>
              <a:pathLst>
                <a:path h="2626688" w="2859753">
                  <a:moveTo>
                    <a:pt x="97499" y="0"/>
                  </a:moveTo>
                  <a:lnTo>
                    <a:pt x="2762254" y="0"/>
                  </a:lnTo>
                  <a:cubicBezTo>
                    <a:pt x="2816101" y="0"/>
                    <a:pt x="2859753" y="43652"/>
                    <a:pt x="2859753" y="97499"/>
                  </a:cubicBezTo>
                  <a:lnTo>
                    <a:pt x="2859753" y="2529189"/>
                  </a:lnTo>
                  <a:cubicBezTo>
                    <a:pt x="2859753" y="2583036"/>
                    <a:pt x="2816101" y="2626688"/>
                    <a:pt x="2762254" y="2626688"/>
                  </a:cubicBezTo>
                  <a:lnTo>
                    <a:pt x="97499" y="2626688"/>
                  </a:lnTo>
                  <a:cubicBezTo>
                    <a:pt x="71641" y="2626688"/>
                    <a:pt x="46841" y="2616416"/>
                    <a:pt x="28557" y="2598131"/>
                  </a:cubicBezTo>
                  <a:cubicBezTo>
                    <a:pt x="10272" y="2579847"/>
                    <a:pt x="0" y="2555047"/>
                    <a:pt x="0" y="2529189"/>
                  </a:cubicBezTo>
                  <a:lnTo>
                    <a:pt x="0" y="97499"/>
                  </a:lnTo>
                  <a:cubicBezTo>
                    <a:pt x="0" y="43652"/>
                    <a:pt x="43652" y="0"/>
                    <a:pt x="97499" y="0"/>
                  </a:cubicBezTo>
                  <a:close/>
                </a:path>
              </a:pathLst>
            </a:custGeom>
            <a:solidFill>
              <a:srgbClr val="FDD0E6"/>
            </a:solidFill>
          </p:spPr>
        </p:sp>
        <p:sp>
          <p:nvSpPr>
            <p:cNvPr name="TextBox 5" id="5"/>
            <p:cNvSpPr txBox="true"/>
            <p:nvPr/>
          </p:nvSpPr>
          <p:spPr>
            <a:xfrm>
              <a:off x="0" y="-38100"/>
              <a:ext cx="2859753" cy="266478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084546" y="218421"/>
            <a:ext cx="6699127" cy="2746642"/>
          </a:xfrm>
          <a:custGeom>
            <a:avLst/>
            <a:gdLst/>
            <a:ahLst/>
            <a:cxnLst/>
            <a:rect r="r" b="b" t="t" l="l"/>
            <a:pathLst>
              <a:path h="2746642" w="6699127">
                <a:moveTo>
                  <a:pt x="0" y="0"/>
                </a:moveTo>
                <a:lnTo>
                  <a:pt x="6699128" y="0"/>
                </a:lnTo>
                <a:lnTo>
                  <a:pt x="6699128" y="2746643"/>
                </a:lnTo>
                <a:lnTo>
                  <a:pt x="0" y="2746643"/>
                </a:lnTo>
                <a:lnTo>
                  <a:pt x="0" y="0"/>
                </a:lnTo>
                <a:close/>
              </a:path>
            </a:pathLst>
          </a:custGeom>
          <a:blipFill>
            <a:blip r:embed="rId2"/>
            <a:stretch>
              <a:fillRect l="0" t="0" r="0" b="0"/>
            </a:stretch>
          </a:blipFill>
        </p:spPr>
      </p:sp>
      <p:sp>
        <p:nvSpPr>
          <p:cNvPr name="Freeform 7" id="7"/>
          <p:cNvSpPr/>
          <p:nvPr/>
        </p:nvSpPr>
        <p:spPr>
          <a:xfrm flipH="false" flipV="false" rot="0">
            <a:off x="16406345" y="5960750"/>
            <a:ext cx="1353195" cy="1353195"/>
          </a:xfrm>
          <a:custGeom>
            <a:avLst/>
            <a:gdLst/>
            <a:ahLst/>
            <a:cxnLst/>
            <a:rect r="r" b="b" t="t" l="l"/>
            <a:pathLst>
              <a:path h="1353195" w="1353195">
                <a:moveTo>
                  <a:pt x="0" y="0"/>
                </a:moveTo>
                <a:lnTo>
                  <a:pt x="1353195" y="0"/>
                </a:lnTo>
                <a:lnTo>
                  <a:pt x="1353195" y="1353195"/>
                </a:lnTo>
                <a:lnTo>
                  <a:pt x="0" y="1353195"/>
                </a:lnTo>
                <a:lnTo>
                  <a:pt x="0" y="0"/>
                </a:lnTo>
                <a:close/>
              </a:path>
            </a:pathLst>
          </a:custGeom>
          <a:blipFill>
            <a:blip r:embed="rId3"/>
            <a:stretch>
              <a:fillRect l="0" t="0" r="0" b="0"/>
            </a:stretch>
          </a:blipFill>
        </p:spPr>
      </p:sp>
      <p:sp>
        <p:nvSpPr>
          <p:cNvPr name="Freeform 8" id="8"/>
          <p:cNvSpPr/>
          <p:nvPr/>
        </p:nvSpPr>
        <p:spPr>
          <a:xfrm flipH="false" flipV="false" rot="0">
            <a:off x="819240" y="4103001"/>
            <a:ext cx="7607795" cy="5068693"/>
          </a:xfrm>
          <a:custGeom>
            <a:avLst/>
            <a:gdLst/>
            <a:ahLst/>
            <a:cxnLst/>
            <a:rect r="r" b="b" t="t" l="l"/>
            <a:pathLst>
              <a:path h="5068693" w="7607795">
                <a:moveTo>
                  <a:pt x="0" y="0"/>
                </a:moveTo>
                <a:lnTo>
                  <a:pt x="7607795" y="0"/>
                </a:lnTo>
                <a:lnTo>
                  <a:pt x="7607795" y="5068693"/>
                </a:lnTo>
                <a:lnTo>
                  <a:pt x="0" y="5068693"/>
                </a:lnTo>
                <a:lnTo>
                  <a:pt x="0" y="0"/>
                </a:lnTo>
                <a:close/>
              </a:path>
            </a:pathLst>
          </a:custGeom>
          <a:blipFill>
            <a:blip r:embed="rId4"/>
            <a:stretch>
              <a:fillRect l="0" t="0" r="0" b="0"/>
            </a:stretch>
          </a:blipFill>
        </p:spPr>
      </p:sp>
      <p:sp>
        <p:nvSpPr>
          <p:cNvPr name="Freeform 9" id="9"/>
          <p:cNvSpPr/>
          <p:nvPr/>
        </p:nvSpPr>
        <p:spPr>
          <a:xfrm flipH="true" flipV="false" rot="0">
            <a:off x="-1704627" y="7980229"/>
            <a:ext cx="6699127" cy="2746642"/>
          </a:xfrm>
          <a:custGeom>
            <a:avLst/>
            <a:gdLst/>
            <a:ahLst/>
            <a:cxnLst/>
            <a:rect r="r" b="b" t="t" l="l"/>
            <a:pathLst>
              <a:path h="2746642" w="6699127">
                <a:moveTo>
                  <a:pt x="6699128" y="0"/>
                </a:moveTo>
                <a:lnTo>
                  <a:pt x="0" y="0"/>
                </a:lnTo>
                <a:lnTo>
                  <a:pt x="0" y="2746642"/>
                </a:lnTo>
                <a:lnTo>
                  <a:pt x="6699128" y="2746642"/>
                </a:lnTo>
                <a:lnTo>
                  <a:pt x="6699128" y="0"/>
                </a:lnTo>
                <a:close/>
              </a:path>
            </a:pathLst>
          </a:custGeom>
          <a:blipFill>
            <a:blip r:embed="rId2"/>
            <a:stretch>
              <a:fillRect l="0" t="0" r="0" b="0"/>
            </a:stretch>
          </a:blipFill>
        </p:spPr>
      </p:sp>
      <p:sp>
        <p:nvSpPr>
          <p:cNvPr name="TextBox 10" id="10"/>
          <p:cNvSpPr txBox="true"/>
          <p:nvPr/>
        </p:nvSpPr>
        <p:spPr>
          <a:xfrm rot="0">
            <a:off x="9770585" y="2888864"/>
            <a:ext cx="7036918" cy="6623326"/>
          </a:xfrm>
          <a:prstGeom prst="rect">
            <a:avLst/>
          </a:prstGeom>
        </p:spPr>
        <p:txBody>
          <a:bodyPr anchor="t" rtlCol="false" tIns="0" lIns="0" bIns="0" rIns="0">
            <a:spAutoFit/>
          </a:bodyPr>
          <a:lstStyle/>
          <a:p>
            <a:pPr algn="just">
              <a:lnSpc>
                <a:spcPts val="3532"/>
              </a:lnSpc>
              <a:spcBef>
                <a:spcPct val="0"/>
              </a:spcBef>
            </a:pPr>
            <a:r>
              <a:rPr lang="en-US" sz="2523" spc="-50">
                <a:solidFill>
                  <a:srgbClr val="094595"/>
                </a:solidFill>
                <a:latin typeface="Poppins"/>
                <a:ea typeface="Poppins"/>
                <a:cs typeface="Poppins"/>
                <a:sym typeface="Poppins"/>
              </a:rPr>
              <a:t>Permasalahan yang ingin diselesaikan dalam pengembangan aplikasi ini antara lain: bagaimana mengelola data murid secara komputerisasi agar lebih rapi dan terstruktur dibandingkan pencatatan manual; bagaimana sistem dapat mencatat dan menyimpan data murid yang lengkap; bagaimana menentukan status murid secara otomatis berdasarkan kehadiran dan nilai; bagaimana menyimpan dan membaca data dari file agar tidak hilang; serta bagaimana menerapkan konsep OOP dalam pengembangan aplikasi menggunakan Java agar program mudah dipahami dan dikembangkan.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0">
            <a:off x="-5547305" y="-985375"/>
            <a:ext cx="7820855" cy="5894970"/>
          </a:xfrm>
          <a:custGeom>
            <a:avLst/>
            <a:gdLst/>
            <a:ahLst/>
            <a:cxnLst/>
            <a:rect r="r" b="b" t="t" l="l"/>
            <a:pathLst>
              <a:path h="5894970" w="7820855">
                <a:moveTo>
                  <a:pt x="0" y="0"/>
                </a:moveTo>
                <a:lnTo>
                  <a:pt x="7820856" y="0"/>
                </a:lnTo>
                <a:lnTo>
                  <a:pt x="7820856" y="5894969"/>
                </a:lnTo>
                <a:lnTo>
                  <a:pt x="0" y="5894969"/>
                </a:lnTo>
                <a:lnTo>
                  <a:pt x="0" y="0"/>
                </a:lnTo>
                <a:close/>
              </a:path>
            </a:pathLst>
          </a:custGeom>
          <a:blipFill>
            <a:blip r:embed="rId2"/>
            <a:stretch>
              <a:fillRect l="0" t="0" r="0" b="0"/>
            </a:stretch>
          </a:blipFill>
        </p:spPr>
      </p:sp>
      <p:sp>
        <p:nvSpPr>
          <p:cNvPr name="Freeform 3" id="3"/>
          <p:cNvSpPr/>
          <p:nvPr/>
        </p:nvSpPr>
        <p:spPr>
          <a:xfrm flipH="false" flipV="false" rot="7801854">
            <a:off x="-2407158" y="6306171"/>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3006746">
            <a:off x="14155057" y="-4480306"/>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697085" y="2430526"/>
            <a:ext cx="7836383" cy="3487777"/>
            <a:chOff x="0" y="0"/>
            <a:chExt cx="2692092" cy="1198183"/>
          </a:xfrm>
        </p:grpSpPr>
        <p:sp>
          <p:nvSpPr>
            <p:cNvPr name="Freeform 6" id="6"/>
            <p:cNvSpPr/>
            <p:nvPr/>
          </p:nvSpPr>
          <p:spPr>
            <a:xfrm flipH="false" flipV="false" rot="0">
              <a:off x="0" y="0"/>
              <a:ext cx="2692092" cy="1198182"/>
            </a:xfrm>
            <a:custGeom>
              <a:avLst/>
              <a:gdLst/>
              <a:ahLst/>
              <a:cxnLst/>
              <a:rect r="r" b="b" t="t" l="l"/>
              <a:pathLst>
                <a:path h="1198182" w="2692092">
                  <a:moveTo>
                    <a:pt x="49397" y="0"/>
                  </a:moveTo>
                  <a:lnTo>
                    <a:pt x="2642695" y="0"/>
                  </a:lnTo>
                  <a:cubicBezTo>
                    <a:pt x="2655796" y="0"/>
                    <a:pt x="2668360" y="5204"/>
                    <a:pt x="2677624" y="14468"/>
                  </a:cubicBezTo>
                  <a:cubicBezTo>
                    <a:pt x="2686888" y="23732"/>
                    <a:pt x="2692092" y="36296"/>
                    <a:pt x="2692092" y="49397"/>
                  </a:cubicBezTo>
                  <a:lnTo>
                    <a:pt x="2692092" y="1148785"/>
                  </a:lnTo>
                  <a:cubicBezTo>
                    <a:pt x="2692092" y="1161886"/>
                    <a:pt x="2686888" y="1174451"/>
                    <a:pt x="2677624" y="1183714"/>
                  </a:cubicBezTo>
                  <a:cubicBezTo>
                    <a:pt x="2668360" y="1192978"/>
                    <a:pt x="2655796" y="1198182"/>
                    <a:pt x="2642695" y="1198182"/>
                  </a:cubicBezTo>
                  <a:lnTo>
                    <a:pt x="49397" y="1198182"/>
                  </a:lnTo>
                  <a:cubicBezTo>
                    <a:pt x="36296" y="1198182"/>
                    <a:pt x="23732" y="1192978"/>
                    <a:pt x="14468" y="1183714"/>
                  </a:cubicBezTo>
                  <a:cubicBezTo>
                    <a:pt x="5204" y="1174451"/>
                    <a:pt x="0" y="1161886"/>
                    <a:pt x="0" y="1148785"/>
                  </a:cubicBezTo>
                  <a:lnTo>
                    <a:pt x="0" y="49397"/>
                  </a:lnTo>
                  <a:cubicBezTo>
                    <a:pt x="0" y="36296"/>
                    <a:pt x="5204" y="23732"/>
                    <a:pt x="14468" y="14468"/>
                  </a:cubicBezTo>
                  <a:cubicBezTo>
                    <a:pt x="23732" y="5204"/>
                    <a:pt x="36296" y="0"/>
                    <a:pt x="49397" y="0"/>
                  </a:cubicBezTo>
                  <a:close/>
                </a:path>
              </a:pathLst>
            </a:custGeom>
            <a:solidFill>
              <a:srgbClr val="FFDCED"/>
            </a:solidFill>
          </p:spPr>
        </p:sp>
        <p:sp>
          <p:nvSpPr>
            <p:cNvPr name="TextBox 7" id="7"/>
            <p:cNvSpPr txBox="true"/>
            <p:nvPr/>
          </p:nvSpPr>
          <p:spPr>
            <a:xfrm>
              <a:off x="0" y="-38100"/>
              <a:ext cx="2692092" cy="123628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697085" y="690245"/>
            <a:ext cx="16893830" cy="15362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TUJUAN DAN MANFAAT</a:t>
            </a:r>
          </a:p>
        </p:txBody>
      </p:sp>
      <p:sp>
        <p:nvSpPr>
          <p:cNvPr name="Freeform 9" id="9"/>
          <p:cNvSpPr/>
          <p:nvPr/>
        </p:nvSpPr>
        <p:spPr>
          <a:xfrm flipH="false" flipV="false" rot="0">
            <a:off x="16336006" y="2385271"/>
            <a:ext cx="1560869" cy="1560869"/>
          </a:xfrm>
          <a:custGeom>
            <a:avLst/>
            <a:gdLst/>
            <a:ahLst/>
            <a:cxnLst/>
            <a:rect r="r" b="b" t="t" l="l"/>
            <a:pathLst>
              <a:path h="1560869" w="1560869">
                <a:moveTo>
                  <a:pt x="0" y="0"/>
                </a:moveTo>
                <a:lnTo>
                  <a:pt x="1560869" y="0"/>
                </a:lnTo>
                <a:lnTo>
                  <a:pt x="1560869" y="1560869"/>
                </a:lnTo>
                <a:lnTo>
                  <a:pt x="0" y="1560869"/>
                </a:lnTo>
                <a:lnTo>
                  <a:pt x="0" y="0"/>
                </a:lnTo>
                <a:close/>
              </a:path>
            </a:pathLst>
          </a:custGeom>
          <a:blipFill>
            <a:blip r:embed="rId4"/>
            <a:stretch>
              <a:fillRect l="0" t="0" r="0" b="0"/>
            </a:stretch>
          </a:blipFill>
        </p:spPr>
      </p:sp>
      <p:sp>
        <p:nvSpPr>
          <p:cNvPr name="Freeform 10" id="10"/>
          <p:cNvSpPr/>
          <p:nvPr/>
        </p:nvSpPr>
        <p:spPr>
          <a:xfrm flipH="false" flipV="false" rot="0">
            <a:off x="9144000" y="3946140"/>
            <a:ext cx="8752875" cy="4919649"/>
          </a:xfrm>
          <a:custGeom>
            <a:avLst/>
            <a:gdLst/>
            <a:ahLst/>
            <a:cxnLst/>
            <a:rect r="r" b="b" t="t" l="l"/>
            <a:pathLst>
              <a:path h="4919649" w="8752875">
                <a:moveTo>
                  <a:pt x="0" y="0"/>
                </a:moveTo>
                <a:lnTo>
                  <a:pt x="8752875" y="0"/>
                </a:lnTo>
                <a:lnTo>
                  <a:pt x="8752875" y="4919649"/>
                </a:lnTo>
                <a:lnTo>
                  <a:pt x="0" y="4919649"/>
                </a:lnTo>
                <a:lnTo>
                  <a:pt x="0" y="0"/>
                </a:lnTo>
                <a:close/>
              </a:path>
            </a:pathLst>
          </a:custGeom>
          <a:blipFill>
            <a:blip r:embed="rId5"/>
            <a:stretch>
              <a:fillRect l="0" t="0" r="0" b="0"/>
            </a:stretch>
          </a:blipFill>
        </p:spPr>
      </p:sp>
      <p:sp>
        <p:nvSpPr>
          <p:cNvPr name="Freeform 11" id="11"/>
          <p:cNvSpPr/>
          <p:nvPr/>
        </p:nvSpPr>
        <p:spPr>
          <a:xfrm flipH="false" flipV="false" rot="0">
            <a:off x="14377572" y="5918304"/>
            <a:ext cx="7820855" cy="5894970"/>
          </a:xfrm>
          <a:custGeom>
            <a:avLst/>
            <a:gdLst/>
            <a:ahLst/>
            <a:cxnLst/>
            <a:rect r="r" b="b" t="t" l="l"/>
            <a:pathLst>
              <a:path h="5894970" w="7820855">
                <a:moveTo>
                  <a:pt x="0" y="0"/>
                </a:moveTo>
                <a:lnTo>
                  <a:pt x="7820856" y="0"/>
                </a:lnTo>
                <a:lnTo>
                  <a:pt x="7820856" y="5894970"/>
                </a:lnTo>
                <a:lnTo>
                  <a:pt x="0" y="5894970"/>
                </a:lnTo>
                <a:lnTo>
                  <a:pt x="0" y="0"/>
                </a:lnTo>
                <a:close/>
              </a:path>
            </a:pathLst>
          </a:custGeom>
          <a:blipFill>
            <a:blip r:embed="rId2"/>
            <a:stretch>
              <a:fillRect l="0" t="0" r="0" b="0"/>
            </a:stretch>
          </a:blipFill>
        </p:spPr>
      </p:sp>
      <p:sp>
        <p:nvSpPr>
          <p:cNvPr name="TextBox 12" id="12"/>
          <p:cNvSpPr txBox="true"/>
          <p:nvPr/>
        </p:nvSpPr>
        <p:spPr>
          <a:xfrm rot="0">
            <a:off x="1028700" y="2401813"/>
            <a:ext cx="7225521" cy="3516491"/>
          </a:xfrm>
          <a:prstGeom prst="rect">
            <a:avLst/>
          </a:prstGeom>
        </p:spPr>
        <p:txBody>
          <a:bodyPr anchor="t" rtlCol="false" tIns="0" lIns="0" bIns="0" rIns="0">
            <a:spAutoFit/>
          </a:bodyPr>
          <a:lstStyle/>
          <a:p>
            <a:pPr algn="just">
              <a:lnSpc>
                <a:spcPts val="3488"/>
              </a:lnSpc>
              <a:spcBef>
                <a:spcPct val="0"/>
              </a:spcBef>
            </a:pPr>
            <a:r>
              <a:rPr lang="en-US" sz="2492" spc="-49">
                <a:solidFill>
                  <a:srgbClr val="094595"/>
                </a:solidFill>
                <a:latin typeface="Poppins"/>
                <a:ea typeface="Poppins"/>
                <a:cs typeface="Poppins"/>
                <a:sym typeface="Poppins"/>
              </a:rPr>
              <a:t>Tujuan utama aplikasi ini adalah membantu pengelolaan data murid les privat secara terkomputerisasi, memudahkan pemantauan kehadiran dan nilai, menentukan status murid secara objektif, dan menyimpan data agar dapat digunakan kembali. Selain itu, aplikasi ini juga diterapkan sebagai media pembelajaran dan praktik penerapan konsep OOP.</a:t>
            </a:r>
          </a:p>
        </p:txBody>
      </p:sp>
      <p:grpSp>
        <p:nvGrpSpPr>
          <p:cNvPr name="Group 13" id="13"/>
          <p:cNvGrpSpPr/>
          <p:nvPr/>
        </p:nvGrpSpPr>
        <p:grpSpPr>
          <a:xfrm rot="0">
            <a:off x="697085" y="6405964"/>
            <a:ext cx="7836383" cy="3487777"/>
            <a:chOff x="0" y="0"/>
            <a:chExt cx="2692092" cy="1198183"/>
          </a:xfrm>
        </p:grpSpPr>
        <p:sp>
          <p:nvSpPr>
            <p:cNvPr name="Freeform 14" id="14"/>
            <p:cNvSpPr/>
            <p:nvPr/>
          </p:nvSpPr>
          <p:spPr>
            <a:xfrm flipH="false" flipV="false" rot="0">
              <a:off x="0" y="0"/>
              <a:ext cx="2692092" cy="1198182"/>
            </a:xfrm>
            <a:custGeom>
              <a:avLst/>
              <a:gdLst/>
              <a:ahLst/>
              <a:cxnLst/>
              <a:rect r="r" b="b" t="t" l="l"/>
              <a:pathLst>
                <a:path h="1198182" w="2692092">
                  <a:moveTo>
                    <a:pt x="49397" y="0"/>
                  </a:moveTo>
                  <a:lnTo>
                    <a:pt x="2642695" y="0"/>
                  </a:lnTo>
                  <a:cubicBezTo>
                    <a:pt x="2655796" y="0"/>
                    <a:pt x="2668360" y="5204"/>
                    <a:pt x="2677624" y="14468"/>
                  </a:cubicBezTo>
                  <a:cubicBezTo>
                    <a:pt x="2686888" y="23732"/>
                    <a:pt x="2692092" y="36296"/>
                    <a:pt x="2692092" y="49397"/>
                  </a:cubicBezTo>
                  <a:lnTo>
                    <a:pt x="2692092" y="1148785"/>
                  </a:lnTo>
                  <a:cubicBezTo>
                    <a:pt x="2692092" y="1161886"/>
                    <a:pt x="2686888" y="1174451"/>
                    <a:pt x="2677624" y="1183714"/>
                  </a:cubicBezTo>
                  <a:cubicBezTo>
                    <a:pt x="2668360" y="1192978"/>
                    <a:pt x="2655796" y="1198182"/>
                    <a:pt x="2642695" y="1198182"/>
                  </a:cubicBezTo>
                  <a:lnTo>
                    <a:pt x="49397" y="1198182"/>
                  </a:lnTo>
                  <a:cubicBezTo>
                    <a:pt x="36296" y="1198182"/>
                    <a:pt x="23732" y="1192978"/>
                    <a:pt x="14468" y="1183714"/>
                  </a:cubicBezTo>
                  <a:cubicBezTo>
                    <a:pt x="5204" y="1174451"/>
                    <a:pt x="0" y="1161886"/>
                    <a:pt x="0" y="1148785"/>
                  </a:cubicBezTo>
                  <a:lnTo>
                    <a:pt x="0" y="49397"/>
                  </a:lnTo>
                  <a:cubicBezTo>
                    <a:pt x="0" y="36296"/>
                    <a:pt x="5204" y="23732"/>
                    <a:pt x="14468" y="14468"/>
                  </a:cubicBezTo>
                  <a:cubicBezTo>
                    <a:pt x="23732" y="5204"/>
                    <a:pt x="36296" y="0"/>
                    <a:pt x="49397" y="0"/>
                  </a:cubicBezTo>
                  <a:close/>
                </a:path>
              </a:pathLst>
            </a:custGeom>
            <a:solidFill>
              <a:srgbClr val="FFDCED"/>
            </a:solidFill>
          </p:spPr>
        </p:sp>
        <p:sp>
          <p:nvSpPr>
            <p:cNvPr name="TextBox 15" id="15"/>
            <p:cNvSpPr txBox="true"/>
            <p:nvPr/>
          </p:nvSpPr>
          <p:spPr>
            <a:xfrm>
              <a:off x="0" y="-38100"/>
              <a:ext cx="2692092" cy="1236283"/>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028700" y="6339289"/>
            <a:ext cx="7225521" cy="3955630"/>
          </a:xfrm>
          <a:prstGeom prst="rect">
            <a:avLst/>
          </a:prstGeom>
        </p:spPr>
        <p:txBody>
          <a:bodyPr anchor="t" rtlCol="false" tIns="0" lIns="0" bIns="0" rIns="0">
            <a:spAutoFit/>
          </a:bodyPr>
          <a:lstStyle/>
          <a:p>
            <a:pPr algn="just">
              <a:lnSpc>
                <a:spcPts val="3488"/>
              </a:lnSpc>
              <a:spcBef>
                <a:spcPct val="0"/>
              </a:spcBef>
            </a:pPr>
            <a:r>
              <a:rPr lang="en-US" sz="2492" spc="-49">
                <a:solidFill>
                  <a:srgbClr val="094595"/>
                </a:solidFill>
                <a:latin typeface="Poppins"/>
                <a:ea typeface="Poppins"/>
                <a:cs typeface="Poppins"/>
                <a:sym typeface="Poppins"/>
              </a:rPr>
              <a:t>Manfaat yang diperoleh antara lain: pengelolaan data murid menjadi lebih rapi dan efisien, pemantauan perkembangan murid lebih mudah, penentuan status murid menjadi objektif, risiko kehilangan data berkurang, dan pembuatan laporan perkembangan murid menjadi lebih cepat dan akurat.</a:t>
            </a:r>
          </a:p>
          <a:p>
            <a:pPr algn="just">
              <a:lnSpc>
                <a:spcPts val="3488"/>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886262" y="-3070747"/>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004063" y="5725987"/>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9598607" y="1624094"/>
            <a:ext cx="8522356" cy="85223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D0E6"/>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TextBox 9" id="9"/>
          <p:cNvSpPr txBox="true"/>
          <p:nvPr/>
        </p:nvSpPr>
        <p:spPr>
          <a:xfrm rot="0">
            <a:off x="290356" y="967853"/>
            <a:ext cx="9984848" cy="29840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LANDASAN</a:t>
            </a:r>
          </a:p>
          <a:p>
            <a:pPr algn="ctr">
              <a:lnSpc>
                <a:spcPts val="11448"/>
              </a:lnSpc>
            </a:pPr>
            <a:r>
              <a:rPr lang="en-US" sz="9620">
                <a:solidFill>
                  <a:srgbClr val="093C80"/>
                </a:solidFill>
                <a:latin typeface="Brasika"/>
                <a:ea typeface="Brasika"/>
                <a:cs typeface="Brasika"/>
                <a:sym typeface="Brasika"/>
              </a:rPr>
              <a:t>TEORI</a:t>
            </a:r>
          </a:p>
        </p:txBody>
      </p:sp>
      <p:sp>
        <p:nvSpPr>
          <p:cNvPr name="Freeform 10" id="10"/>
          <p:cNvSpPr/>
          <p:nvPr/>
        </p:nvSpPr>
        <p:spPr>
          <a:xfrm flipH="false" flipV="false" rot="0">
            <a:off x="9598607" y="1624094"/>
            <a:ext cx="1353195" cy="1353195"/>
          </a:xfrm>
          <a:custGeom>
            <a:avLst/>
            <a:gdLst/>
            <a:ahLst/>
            <a:cxnLst/>
            <a:rect r="r" b="b" t="t" l="l"/>
            <a:pathLst>
              <a:path h="1353195" w="1353195">
                <a:moveTo>
                  <a:pt x="0" y="0"/>
                </a:moveTo>
                <a:lnTo>
                  <a:pt x="1353195" y="0"/>
                </a:lnTo>
                <a:lnTo>
                  <a:pt x="1353195" y="1353196"/>
                </a:lnTo>
                <a:lnTo>
                  <a:pt x="0" y="1353196"/>
                </a:lnTo>
                <a:lnTo>
                  <a:pt x="0" y="0"/>
                </a:lnTo>
                <a:close/>
              </a:path>
            </a:pathLst>
          </a:custGeom>
          <a:blipFill>
            <a:blip r:embed="rId4"/>
            <a:stretch>
              <a:fillRect l="0" t="0" r="0" b="0"/>
            </a:stretch>
          </a:blipFill>
        </p:spPr>
      </p:sp>
      <p:sp>
        <p:nvSpPr>
          <p:cNvPr name="Freeform 11" id="11"/>
          <p:cNvSpPr/>
          <p:nvPr/>
        </p:nvSpPr>
        <p:spPr>
          <a:xfrm flipH="false" flipV="false" rot="0">
            <a:off x="1028700" y="4671327"/>
            <a:ext cx="8105058" cy="4563002"/>
          </a:xfrm>
          <a:custGeom>
            <a:avLst/>
            <a:gdLst/>
            <a:ahLst/>
            <a:cxnLst/>
            <a:rect r="r" b="b" t="t" l="l"/>
            <a:pathLst>
              <a:path h="4563002" w="8105058">
                <a:moveTo>
                  <a:pt x="0" y="0"/>
                </a:moveTo>
                <a:lnTo>
                  <a:pt x="8105058" y="0"/>
                </a:lnTo>
                <a:lnTo>
                  <a:pt x="8105058" y="4563002"/>
                </a:lnTo>
                <a:lnTo>
                  <a:pt x="0" y="4563002"/>
                </a:lnTo>
                <a:lnTo>
                  <a:pt x="0" y="0"/>
                </a:lnTo>
                <a:close/>
              </a:path>
            </a:pathLst>
          </a:custGeom>
          <a:blipFill>
            <a:blip r:embed="rId5"/>
            <a:stretch>
              <a:fillRect l="0" t="0" r="0" b="0"/>
            </a:stretch>
          </a:blipFill>
        </p:spPr>
      </p:sp>
      <p:sp>
        <p:nvSpPr>
          <p:cNvPr name="TextBox 12" id="12"/>
          <p:cNvSpPr txBox="true"/>
          <p:nvPr/>
        </p:nvSpPr>
        <p:spPr>
          <a:xfrm rot="0">
            <a:off x="10571717" y="3070069"/>
            <a:ext cx="6576135" cy="5554207"/>
          </a:xfrm>
          <a:prstGeom prst="rect">
            <a:avLst/>
          </a:prstGeom>
        </p:spPr>
        <p:txBody>
          <a:bodyPr anchor="t" rtlCol="false" tIns="0" lIns="0" bIns="0" rIns="0">
            <a:spAutoFit/>
          </a:bodyPr>
          <a:lstStyle/>
          <a:p>
            <a:pPr algn="just">
              <a:lnSpc>
                <a:spcPts val="3404"/>
              </a:lnSpc>
              <a:spcBef>
                <a:spcPct val="0"/>
              </a:spcBef>
            </a:pPr>
            <a:r>
              <a:rPr lang="en-US" sz="2431" spc="-48">
                <a:solidFill>
                  <a:srgbClr val="094595"/>
                </a:solidFill>
                <a:latin typeface="Poppins"/>
                <a:ea typeface="Poppins"/>
                <a:cs typeface="Poppins"/>
                <a:sym typeface="Poppins"/>
              </a:rPr>
              <a:t>Aplikasi ini merupakan sistem informasi yang mengelola data murid dari input, proses, penyimpanan, hingga output berupa laporan. Input berupa data murid, proses untuk menghitung nilai dan menentukan status, output berupa laporan, dan penyimpanan dilakukan di file teks. Java dipilih karena mendukung OOP, bersifat portabel, aman, dan memiliki library lengkap untuk pengolahan file. Dengan Java, program dapat dijalankan di berbagai sistem operasi menggunakan JVM.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1934217">
            <a:off x="16360699" y="3895167"/>
            <a:ext cx="6253069" cy="7719838"/>
          </a:xfrm>
          <a:custGeom>
            <a:avLst/>
            <a:gdLst/>
            <a:ahLst/>
            <a:cxnLst/>
            <a:rect r="r" b="b" t="t" l="l"/>
            <a:pathLst>
              <a:path h="7719838" w="6253069">
                <a:moveTo>
                  <a:pt x="0" y="0"/>
                </a:moveTo>
                <a:lnTo>
                  <a:pt x="6253069" y="0"/>
                </a:lnTo>
                <a:lnTo>
                  <a:pt x="6253069" y="7719838"/>
                </a:lnTo>
                <a:lnTo>
                  <a:pt x="0" y="7719838"/>
                </a:lnTo>
                <a:lnTo>
                  <a:pt x="0" y="0"/>
                </a:lnTo>
                <a:close/>
              </a:path>
            </a:pathLst>
          </a:custGeom>
          <a:blipFill>
            <a:blip r:embed="rId2"/>
            <a:stretch>
              <a:fillRect l="0" t="0" r="0" b="0"/>
            </a:stretch>
          </a:blipFill>
        </p:spPr>
      </p:sp>
      <p:grpSp>
        <p:nvGrpSpPr>
          <p:cNvPr name="Group 3" id="3"/>
          <p:cNvGrpSpPr/>
          <p:nvPr/>
        </p:nvGrpSpPr>
        <p:grpSpPr>
          <a:xfrm rot="0">
            <a:off x="7677780" y="3081010"/>
            <a:ext cx="9581520" cy="6139453"/>
            <a:chOff x="0" y="0"/>
            <a:chExt cx="3291612" cy="2109133"/>
          </a:xfrm>
        </p:grpSpPr>
        <p:sp>
          <p:nvSpPr>
            <p:cNvPr name="Freeform 4" id="4"/>
            <p:cNvSpPr/>
            <p:nvPr/>
          </p:nvSpPr>
          <p:spPr>
            <a:xfrm flipH="false" flipV="false" rot="0">
              <a:off x="0" y="0"/>
              <a:ext cx="3291612" cy="2109133"/>
            </a:xfrm>
            <a:custGeom>
              <a:avLst/>
              <a:gdLst/>
              <a:ahLst/>
              <a:cxnLst/>
              <a:rect r="r" b="b" t="t" l="l"/>
              <a:pathLst>
                <a:path h="2109133" w="3291612">
                  <a:moveTo>
                    <a:pt x="40400" y="0"/>
                  </a:moveTo>
                  <a:lnTo>
                    <a:pt x="3251212" y="0"/>
                  </a:lnTo>
                  <a:cubicBezTo>
                    <a:pt x="3273524" y="0"/>
                    <a:pt x="3291612" y="18088"/>
                    <a:pt x="3291612" y="40400"/>
                  </a:cubicBezTo>
                  <a:lnTo>
                    <a:pt x="3291612" y="2068732"/>
                  </a:lnTo>
                  <a:cubicBezTo>
                    <a:pt x="3291612" y="2079447"/>
                    <a:pt x="3287356" y="2089723"/>
                    <a:pt x="3279779" y="2097300"/>
                  </a:cubicBezTo>
                  <a:cubicBezTo>
                    <a:pt x="3272202" y="2104876"/>
                    <a:pt x="3261926" y="2109133"/>
                    <a:pt x="3251212" y="2109133"/>
                  </a:cubicBezTo>
                  <a:lnTo>
                    <a:pt x="40400" y="2109133"/>
                  </a:lnTo>
                  <a:cubicBezTo>
                    <a:pt x="29685" y="2109133"/>
                    <a:pt x="19409" y="2104876"/>
                    <a:pt x="11833" y="2097300"/>
                  </a:cubicBezTo>
                  <a:cubicBezTo>
                    <a:pt x="4256" y="2089723"/>
                    <a:pt x="0" y="2079447"/>
                    <a:pt x="0" y="2068732"/>
                  </a:cubicBezTo>
                  <a:lnTo>
                    <a:pt x="0" y="40400"/>
                  </a:lnTo>
                  <a:cubicBezTo>
                    <a:pt x="0" y="29685"/>
                    <a:pt x="4256" y="19409"/>
                    <a:pt x="11833" y="11833"/>
                  </a:cubicBezTo>
                  <a:cubicBezTo>
                    <a:pt x="19409" y="4256"/>
                    <a:pt x="29685" y="0"/>
                    <a:pt x="40400" y="0"/>
                  </a:cubicBezTo>
                  <a:close/>
                </a:path>
              </a:pathLst>
            </a:custGeom>
            <a:solidFill>
              <a:srgbClr val="FFDCED"/>
            </a:solidFill>
          </p:spPr>
        </p:sp>
        <p:sp>
          <p:nvSpPr>
            <p:cNvPr name="TextBox 5" id="5"/>
            <p:cNvSpPr txBox="true"/>
            <p:nvPr/>
          </p:nvSpPr>
          <p:spPr>
            <a:xfrm>
              <a:off x="0" y="-38100"/>
              <a:ext cx="3291612" cy="21472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801854">
            <a:off x="-2407158" y="6306171"/>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7" id="7"/>
          <p:cNvSpPr/>
          <p:nvPr/>
        </p:nvSpPr>
        <p:spPr>
          <a:xfrm flipH="false" flipV="false" rot="-3006746">
            <a:off x="14155057" y="-4480306"/>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8" id="8"/>
          <p:cNvSpPr/>
          <p:nvPr/>
        </p:nvSpPr>
        <p:spPr>
          <a:xfrm flipH="false" flipV="false" rot="8469211">
            <a:off x="-4128038" y="524186"/>
            <a:ext cx="6253069" cy="7719838"/>
          </a:xfrm>
          <a:custGeom>
            <a:avLst/>
            <a:gdLst/>
            <a:ahLst/>
            <a:cxnLst/>
            <a:rect r="r" b="b" t="t" l="l"/>
            <a:pathLst>
              <a:path h="7719838" w="6253069">
                <a:moveTo>
                  <a:pt x="0" y="0"/>
                </a:moveTo>
                <a:lnTo>
                  <a:pt x="6253069" y="0"/>
                </a:lnTo>
                <a:lnTo>
                  <a:pt x="6253069" y="7719838"/>
                </a:lnTo>
                <a:lnTo>
                  <a:pt x="0" y="7719838"/>
                </a:lnTo>
                <a:lnTo>
                  <a:pt x="0" y="0"/>
                </a:lnTo>
                <a:close/>
              </a:path>
            </a:pathLst>
          </a:custGeom>
          <a:blipFill>
            <a:blip r:embed="rId2"/>
            <a:stretch>
              <a:fillRect l="0" t="0" r="0" b="0"/>
            </a:stretch>
          </a:blipFill>
        </p:spPr>
      </p:sp>
      <p:sp>
        <p:nvSpPr>
          <p:cNvPr name="Freeform 9" id="9"/>
          <p:cNvSpPr/>
          <p:nvPr/>
        </p:nvSpPr>
        <p:spPr>
          <a:xfrm flipH="false" flipV="false" rot="0">
            <a:off x="1028700" y="313750"/>
            <a:ext cx="1429900" cy="1429900"/>
          </a:xfrm>
          <a:custGeom>
            <a:avLst/>
            <a:gdLst/>
            <a:ahLst/>
            <a:cxnLst/>
            <a:rect r="r" b="b" t="t" l="l"/>
            <a:pathLst>
              <a:path h="1429900" w="1429900">
                <a:moveTo>
                  <a:pt x="0" y="0"/>
                </a:moveTo>
                <a:lnTo>
                  <a:pt x="1429900" y="0"/>
                </a:lnTo>
                <a:lnTo>
                  <a:pt x="1429900" y="1429900"/>
                </a:lnTo>
                <a:lnTo>
                  <a:pt x="0" y="1429900"/>
                </a:lnTo>
                <a:lnTo>
                  <a:pt x="0" y="0"/>
                </a:lnTo>
                <a:close/>
              </a:path>
            </a:pathLst>
          </a:custGeom>
          <a:blipFill>
            <a:blip r:embed="rId4"/>
            <a:stretch>
              <a:fillRect l="0" t="0" r="0" b="0"/>
            </a:stretch>
          </a:blipFill>
        </p:spPr>
      </p:sp>
      <p:sp>
        <p:nvSpPr>
          <p:cNvPr name="TextBox 10" id="10"/>
          <p:cNvSpPr txBox="true"/>
          <p:nvPr/>
        </p:nvSpPr>
        <p:spPr>
          <a:xfrm rot="0">
            <a:off x="7677780" y="829843"/>
            <a:ext cx="9581520" cy="1536218"/>
          </a:xfrm>
          <a:prstGeom prst="rect">
            <a:avLst/>
          </a:prstGeom>
        </p:spPr>
        <p:txBody>
          <a:bodyPr anchor="t" rtlCol="false" tIns="0" lIns="0" bIns="0" rIns="0">
            <a:spAutoFit/>
          </a:bodyPr>
          <a:lstStyle/>
          <a:p>
            <a:pPr algn="r">
              <a:lnSpc>
                <a:spcPts val="11448"/>
              </a:lnSpc>
            </a:pPr>
            <a:r>
              <a:rPr lang="en-US" sz="9620">
                <a:solidFill>
                  <a:srgbClr val="093C80"/>
                </a:solidFill>
                <a:latin typeface="Brasika"/>
                <a:ea typeface="Brasika"/>
                <a:cs typeface="Brasika"/>
                <a:sym typeface="Brasika"/>
              </a:rPr>
              <a:t>KONSEP OOP</a:t>
            </a:r>
          </a:p>
        </p:txBody>
      </p:sp>
      <p:sp>
        <p:nvSpPr>
          <p:cNvPr name="Freeform 11" id="11"/>
          <p:cNvSpPr/>
          <p:nvPr/>
        </p:nvSpPr>
        <p:spPr>
          <a:xfrm flipH="false" flipV="false" rot="0">
            <a:off x="0" y="3135768"/>
            <a:ext cx="7262970" cy="7151232"/>
          </a:xfrm>
          <a:custGeom>
            <a:avLst/>
            <a:gdLst/>
            <a:ahLst/>
            <a:cxnLst/>
            <a:rect r="r" b="b" t="t" l="l"/>
            <a:pathLst>
              <a:path h="7151232" w="7262970">
                <a:moveTo>
                  <a:pt x="0" y="0"/>
                </a:moveTo>
                <a:lnTo>
                  <a:pt x="7262970" y="0"/>
                </a:lnTo>
                <a:lnTo>
                  <a:pt x="7262970" y="7151232"/>
                </a:lnTo>
                <a:lnTo>
                  <a:pt x="0" y="7151232"/>
                </a:lnTo>
                <a:lnTo>
                  <a:pt x="0" y="0"/>
                </a:lnTo>
                <a:close/>
              </a:path>
            </a:pathLst>
          </a:custGeom>
          <a:blipFill>
            <a:blip r:embed="rId5"/>
            <a:stretch>
              <a:fillRect l="0" t="0" r="0" b="0"/>
            </a:stretch>
          </a:blipFill>
        </p:spPr>
      </p:sp>
      <p:sp>
        <p:nvSpPr>
          <p:cNvPr name="TextBox 12" id="12"/>
          <p:cNvSpPr txBox="true"/>
          <p:nvPr/>
        </p:nvSpPr>
        <p:spPr>
          <a:xfrm rot="0">
            <a:off x="8021456" y="3004810"/>
            <a:ext cx="8894168" cy="6494179"/>
          </a:xfrm>
          <a:prstGeom prst="rect">
            <a:avLst/>
          </a:prstGeom>
        </p:spPr>
        <p:txBody>
          <a:bodyPr anchor="t" rtlCol="false" tIns="0" lIns="0" bIns="0" rIns="0">
            <a:spAutoFit/>
          </a:bodyPr>
          <a:lstStyle/>
          <a:p>
            <a:pPr algn="just">
              <a:lnSpc>
                <a:spcPts val="4002"/>
              </a:lnSpc>
              <a:spcBef>
                <a:spcPct val="0"/>
              </a:spcBef>
            </a:pPr>
            <a:r>
              <a:rPr lang="en-US" sz="2858" spc="-57">
                <a:solidFill>
                  <a:srgbClr val="094595"/>
                </a:solidFill>
                <a:latin typeface="Poppins"/>
                <a:ea typeface="Poppins"/>
                <a:cs typeface="Poppins"/>
                <a:sym typeface="Poppins"/>
              </a:rPr>
              <a:t>OOP digunakan untuk membuat sistem lebih terstruktur dan fleksibel. Class dan object merepresentasikan murid, inheritance membedakan status murid aktif atau tidak aktif, interface digunakan untuk jenis paket les, dan polymorphism memungkinkan fleksibilitas pengelolaan paket. Class Murid sebagai abstrak memiliki atribut nama, kehadiran, nilai, dan paket les, sedangkan class MuridAktif dan MuridPasif menentukan status murid secara otomatis. Interface Paket diimplementasikan oleh PaketReguler dan PaketIntensif.</a:t>
            </a:r>
          </a:p>
          <a:p>
            <a:pPr algn="just">
              <a:lnSpc>
                <a:spcPts val="4002"/>
              </a:lnSpc>
              <a:spcBef>
                <a:spcPct val="0"/>
              </a:spcBef>
            </a:pPr>
          </a:p>
        </p:txBody>
      </p:sp>
      <p:sp>
        <p:nvSpPr>
          <p:cNvPr name="Freeform 13" id="13"/>
          <p:cNvSpPr/>
          <p:nvPr/>
        </p:nvSpPr>
        <p:spPr>
          <a:xfrm flipH="false" flipV="false" rot="0">
            <a:off x="3351545" y="1651111"/>
            <a:ext cx="1429900" cy="1429900"/>
          </a:xfrm>
          <a:custGeom>
            <a:avLst/>
            <a:gdLst/>
            <a:ahLst/>
            <a:cxnLst/>
            <a:rect r="r" b="b" t="t" l="l"/>
            <a:pathLst>
              <a:path h="1429900" w="1429900">
                <a:moveTo>
                  <a:pt x="0" y="0"/>
                </a:moveTo>
                <a:lnTo>
                  <a:pt x="1429899" y="0"/>
                </a:lnTo>
                <a:lnTo>
                  <a:pt x="1429899" y="1429899"/>
                </a:lnTo>
                <a:lnTo>
                  <a:pt x="0" y="1429899"/>
                </a:lnTo>
                <a:lnTo>
                  <a:pt x="0" y="0"/>
                </a:lnTo>
                <a:close/>
              </a:path>
            </a:pathLst>
          </a:custGeom>
          <a:blipFill>
            <a:blip r:embed="rId4"/>
            <a:stretch>
              <a:fillRect l="0" t="0" r="0" b="0"/>
            </a:stretch>
          </a:blipFill>
        </p:spPr>
      </p:sp>
      <p:sp>
        <p:nvSpPr>
          <p:cNvPr name="Freeform 14" id="14"/>
          <p:cNvSpPr/>
          <p:nvPr/>
        </p:nvSpPr>
        <p:spPr>
          <a:xfrm flipH="false" flipV="false" rot="0">
            <a:off x="5674389" y="647446"/>
            <a:ext cx="1429900" cy="1429900"/>
          </a:xfrm>
          <a:custGeom>
            <a:avLst/>
            <a:gdLst/>
            <a:ahLst/>
            <a:cxnLst/>
            <a:rect r="r" b="b" t="t" l="l"/>
            <a:pathLst>
              <a:path h="1429900" w="1429900">
                <a:moveTo>
                  <a:pt x="0" y="0"/>
                </a:moveTo>
                <a:lnTo>
                  <a:pt x="1429900" y="0"/>
                </a:lnTo>
                <a:lnTo>
                  <a:pt x="1429900" y="1429900"/>
                </a:lnTo>
                <a:lnTo>
                  <a:pt x="0" y="1429900"/>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TextBox 2" id="2"/>
          <p:cNvSpPr txBox="true"/>
          <p:nvPr/>
        </p:nvSpPr>
        <p:spPr>
          <a:xfrm rot="0">
            <a:off x="697085" y="98248"/>
            <a:ext cx="16893830" cy="29840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ANALISIS DAN KEBUTUHAN SISTEM</a:t>
            </a:r>
          </a:p>
        </p:txBody>
      </p:sp>
      <p:sp>
        <p:nvSpPr>
          <p:cNvPr name="Freeform 3" id="3"/>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4" id="4"/>
          <p:cNvSpPr/>
          <p:nvPr/>
        </p:nvSpPr>
        <p:spPr>
          <a:xfrm flipH="false" flipV="false" rot="-10145983">
            <a:off x="-1500625" y="8059677"/>
            <a:ext cx="3140419" cy="3132568"/>
          </a:xfrm>
          <a:custGeom>
            <a:avLst/>
            <a:gdLst/>
            <a:ahLst/>
            <a:cxnLst/>
            <a:rect r="r" b="b" t="t" l="l"/>
            <a:pathLst>
              <a:path h="3132568" w="3140419">
                <a:moveTo>
                  <a:pt x="0" y="0"/>
                </a:moveTo>
                <a:lnTo>
                  <a:pt x="3140419" y="0"/>
                </a:lnTo>
                <a:lnTo>
                  <a:pt x="3140419" y="3132568"/>
                </a:lnTo>
                <a:lnTo>
                  <a:pt x="0" y="3132568"/>
                </a:lnTo>
                <a:lnTo>
                  <a:pt x="0" y="0"/>
                </a:lnTo>
                <a:close/>
              </a:path>
            </a:pathLst>
          </a:custGeom>
          <a:blipFill>
            <a:blip r:embed="rId3"/>
            <a:stretch>
              <a:fillRect l="0" t="0" r="0" b="0"/>
            </a:stretch>
          </a:blipFill>
        </p:spPr>
      </p:sp>
      <p:sp>
        <p:nvSpPr>
          <p:cNvPr name="Freeform 5" id="5"/>
          <p:cNvSpPr/>
          <p:nvPr/>
        </p:nvSpPr>
        <p:spPr>
          <a:xfrm flipH="false" flipV="false" rot="-10145983">
            <a:off x="16400710" y="-830919"/>
            <a:ext cx="3140419" cy="3132568"/>
          </a:xfrm>
          <a:custGeom>
            <a:avLst/>
            <a:gdLst/>
            <a:ahLst/>
            <a:cxnLst/>
            <a:rect r="r" b="b" t="t" l="l"/>
            <a:pathLst>
              <a:path h="3132568" w="3140419">
                <a:moveTo>
                  <a:pt x="0" y="0"/>
                </a:moveTo>
                <a:lnTo>
                  <a:pt x="3140419" y="0"/>
                </a:lnTo>
                <a:lnTo>
                  <a:pt x="3140419" y="3132568"/>
                </a:lnTo>
                <a:lnTo>
                  <a:pt x="0" y="3132568"/>
                </a:lnTo>
                <a:lnTo>
                  <a:pt x="0" y="0"/>
                </a:lnTo>
                <a:close/>
              </a:path>
            </a:pathLst>
          </a:custGeom>
          <a:blipFill>
            <a:blip r:embed="rId3"/>
            <a:stretch>
              <a:fillRect l="0" t="0" r="0" b="0"/>
            </a:stretch>
          </a:blipFill>
        </p:spPr>
      </p:sp>
      <p:sp>
        <p:nvSpPr>
          <p:cNvPr name="Freeform 6" id="6"/>
          <p:cNvSpPr/>
          <p:nvPr/>
        </p:nvSpPr>
        <p:spPr>
          <a:xfrm flipH="false" flipV="false" rot="0">
            <a:off x="11378590" y="3263532"/>
            <a:ext cx="6053399" cy="6053399"/>
          </a:xfrm>
          <a:custGeom>
            <a:avLst/>
            <a:gdLst/>
            <a:ahLst/>
            <a:cxnLst/>
            <a:rect r="r" b="b" t="t" l="l"/>
            <a:pathLst>
              <a:path h="6053399" w="6053399">
                <a:moveTo>
                  <a:pt x="0" y="0"/>
                </a:moveTo>
                <a:lnTo>
                  <a:pt x="6053399" y="0"/>
                </a:lnTo>
                <a:lnTo>
                  <a:pt x="6053399" y="6053399"/>
                </a:lnTo>
                <a:lnTo>
                  <a:pt x="0" y="6053399"/>
                </a:lnTo>
                <a:lnTo>
                  <a:pt x="0" y="0"/>
                </a:lnTo>
                <a:close/>
              </a:path>
            </a:pathLst>
          </a:custGeom>
          <a:blipFill>
            <a:blip r:embed="rId4"/>
            <a:stretch>
              <a:fillRect l="0" t="0" r="0" b="0"/>
            </a:stretch>
          </a:blipFill>
          <a:ln cap="sq">
            <a:noFill/>
            <a:prstDash val="solid"/>
            <a:miter/>
          </a:ln>
        </p:spPr>
      </p:sp>
      <p:sp>
        <p:nvSpPr>
          <p:cNvPr name="Freeform 7" id="7"/>
          <p:cNvSpPr/>
          <p:nvPr/>
        </p:nvSpPr>
        <p:spPr>
          <a:xfrm flipH="false" flipV="false" rot="0">
            <a:off x="16161016" y="2240612"/>
            <a:ext cx="1429900" cy="1429900"/>
          </a:xfrm>
          <a:custGeom>
            <a:avLst/>
            <a:gdLst/>
            <a:ahLst/>
            <a:cxnLst/>
            <a:rect r="r" b="b" t="t" l="l"/>
            <a:pathLst>
              <a:path h="1429900" w="1429900">
                <a:moveTo>
                  <a:pt x="0" y="0"/>
                </a:moveTo>
                <a:lnTo>
                  <a:pt x="1429899" y="0"/>
                </a:lnTo>
                <a:lnTo>
                  <a:pt x="1429899" y="1429899"/>
                </a:lnTo>
                <a:lnTo>
                  <a:pt x="0" y="1429899"/>
                </a:lnTo>
                <a:lnTo>
                  <a:pt x="0" y="0"/>
                </a:lnTo>
                <a:close/>
              </a:path>
            </a:pathLst>
          </a:custGeom>
          <a:blipFill>
            <a:blip r:embed="rId5"/>
            <a:stretch>
              <a:fillRect l="0" t="0" r="0" b="0"/>
            </a:stretch>
          </a:blipFill>
        </p:spPr>
      </p:sp>
      <p:sp>
        <p:nvSpPr>
          <p:cNvPr name="Freeform 8" id="8"/>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TextBox 9" id="9"/>
          <p:cNvSpPr txBox="true"/>
          <p:nvPr/>
        </p:nvSpPr>
        <p:spPr>
          <a:xfrm rot="0">
            <a:off x="1211929" y="3223256"/>
            <a:ext cx="9411332" cy="6402705"/>
          </a:xfrm>
          <a:prstGeom prst="rect">
            <a:avLst/>
          </a:prstGeom>
        </p:spPr>
        <p:txBody>
          <a:bodyPr anchor="t" rtlCol="false" tIns="0" lIns="0" bIns="0" rIns="0">
            <a:spAutoFit/>
          </a:bodyPr>
          <a:lstStyle/>
          <a:p>
            <a:pPr algn="just">
              <a:lnSpc>
                <a:spcPts val="4620"/>
              </a:lnSpc>
              <a:spcBef>
                <a:spcPct val="0"/>
              </a:spcBef>
            </a:pPr>
            <a:r>
              <a:rPr lang="en-US" sz="3300" spc="-66">
                <a:solidFill>
                  <a:srgbClr val="094595"/>
                </a:solidFill>
                <a:latin typeface="Poppins"/>
                <a:ea typeface="Poppins"/>
                <a:cs typeface="Poppins"/>
                <a:sym typeface="Poppins"/>
              </a:rPr>
              <a:t>Analisis sistem menunjukkan pencatatan manual memiliki kelemahan seperti data tidak terorganisir dan kesulitan memantau perkembangan murid. Kebutuhan fungsional meliputi menambah data murid, menyimpan dan membaca data, menentukan status murid otomatis, serta mencetak laporan. Kebutuhan non-fungsional mencakup kemudahan penggunaan, program terstruktur, aplikasi berjalan di desktop, dan mudah dikembangkan.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TextBox 2" id="2"/>
          <p:cNvSpPr txBox="true"/>
          <p:nvPr/>
        </p:nvSpPr>
        <p:spPr>
          <a:xfrm rot="0">
            <a:off x="0" y="237550"/>
            <a:ext cx="10351778" cy="3916045"/>
          </a:xfrm>
          <a:prstGeom prst="rect">
            <a:avLst/>
          </a:prstGeom>
        </p:spPr>
        <p:txBody>
          <a:bodyPr anchor="t" rtlCol="false" tIns="0" lIns="0" bIns="0" rIns="0">
            <a:spAutoFit/>
          </a:bodyPr>
          <a:lstStyle/>
          <a:p>
            <a:pPr algn="ctr">
              <a:lnSpc>
                <a:spcPts val="10114"/>
              </a:lnSpc>
            </a:pPr>
            <a:r>
              <a:rPr lang="en-US" sz="8499">
                <a:solidFill>
                  <a:srgbClr val="093C80"/>
                </a:solidFill>
                <a:latin typeface="Brasika"/>
                <a:ea typeface="Brasika"/>
                <a:cs typeface="Brasika"/>
                <a:sym typeface="Brasika"/>
              </a:rPr>
              <a:t>ALUR DAN  FLOWCHART SISTEM</a:t>
            </a:r>
          </a:p>
        </p:txBody>
      </p:sp>
      <p:sp>
        <p:nvSpPr>
          <p:cNvPr name="Freeform 3" id="3"/>
          <p:cNvSpPr/>
          <p:nvPr/>
        </p:nvSpPr>
        <p:spPr>
          <a:xfrm flipH="false" flipV="false" rot="7801854">
            <a:off x="-2407158" y="6306171"/>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4" id="4"/>
          <p:cNvSpPr/>
          <p:nvPr/>
        </p:nvSpPr>
        <p:spPr>
          <a:xfrm flipH="false" flipV="false" rot="-3006746">
            <a:off x="14155057" y="-4480306"/>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5" id="5"/>
          <p:cNvSpPr/>
          <p:nvPr/>
        </p:nvSpPr>
        <p:spPr>
          <a:xfrm flipH="false" flipV="false" rot="0">
            <a:off x="13909736" y="-344621"/>
            <a:ext cx="6699127" cy="2746642"/>
          </a:xfrm>
          <a:custGeom>
            <a:avLst/>
            <a:gdLst/>
            <a:ahLst/>
            <a:cxnLst/>
            <a:rect r="r" b="b" t="t" l="l"/>
            <a:pathLst>
              <a:path h="2746642" w="6699127">
                <a:moveTo>
                  <a:pt x="0" y="0"/>
                </a:moveTo>
                <a:lnTo>
                  <a:pt x="6699128" y="0"/>
                </a:lnTo>
                <a:lnTo>
                  <a:pt x="6699128" y="2746642"/>
                </a:lnTo>
                <a:lnTo>
                  <a:pt x="0" y="2746642"/>
                </a:lnTo>
                <a:lnTo>
                  <a:pt x="0" y="0"/>
                </a:lnTo>
                <a:close/>
              </a:path>
            </a:pathLst>
          </a:custGeom>
          <a:blipFill>
            <a:blip r:embed="rId3"/>
            <a:stretch>
              <a:fillRect l="0" t="0" r="0" b="0"/>
            </a:stretch>
          </a:blipFill>
        </p:spPr>
      </p:sp>
      <p:sp>
        <p:nvSpPr>
          <p:cNvPr name="Freeform 6" id="6"/>
          <p:cNvSpPr/>
          <p:nvPr/>
        </p:nvSpPr>
        <p:spPr>
          <a:xfrm flipH="false" flipV="false" rot="0">
            <a:off x="10667823" y="1234662"/>
            <a:ext cx="6923093" cy="8316606"/>
          </a:xfrm>
          <a:custGeom>
            <a:avLst/>
            <a:gdLst/>
            <a:ahLst/>
            <a:cxnLst/>
            <a:rect r="r" b="b" t="t" l="l"/>
            <a:pathLst>
              <a:path h="8316606" w="6923093">
                <a:moveTo>
                  <a:pt x="0" y="0"/>
                </a:moveTo>
                <a:lnTo>
                  <a:pt x="6923092" y="0"/>
                </a:lnTo>
                <a:lnTo>
                  <a:pt x="6923092" y="8316606"/>
                </a:lnTo>
                <a:lnTo>
                  <a:pt x="0" y="8316606"/>
                </a:lnTo>
                <a:lnTo>
                  <a:pt x="0" y="0"/>
                </a:lnTo>
                <a:close/>
              </a:path>
            </a:pathLst>
          </a:custGeom>
          <a:blipFill>
            <a:blip r:embed="rId4"/>
            <a:stretch>
              <a:fillRect l="0" t="0" r="0" b="0"/>
            </a:stretch>
          </a:blipFill>
        </p:spPr>
      </p:sp>
      <p:sp>
        <p:nvSpPr>
          <p:cNvPr name="Freeform 7" id="7"/>
          <p:cNvSpPr/>
          <p:nvPr/>
        </p:nvSpPr>
        <p:spPr>
          <a:xfrm flipH="false" flipV="false" rot="0">
            <a:off x="9966649" y="313750"/>
            <a:ext cx="1429900" cy="1429900"/>
          </a:xfrm>
          <a:custGeom>
            <a:avLst/>
            <a:gdLst/>
            <a:ahLst/>
            <a:cxnLst/>
            <a:rect r="r" b="b" t="t" l="l"/>
            <a:pathLst>
              <a:path h="1429900" w="1429900">
                <a:moveTo>
                  <a:pt x="0" y="0"/>
                </a:moveTo>
                <a:lnTo>
                  <a:pt x="1429899" y="0"/>
                </a:lnTo>
                <a:lnTo>
                  <a:pt x="1429899" y="1429900"/>
                </a:lnTo>
                <a:lnTo>
                  <a:pt x="0" y="1429900"/>
                </a:lnTo>
                <a:lnTo>
                  <a:pt x="0" y="0"/>
                </a:lnTo>
                <a:close/>
              </a:path>
            </a:pathLst>
          </a:custGeom>
          <a:blipFill>
            <a:blip r:embed="rId5"/>
            <a:stretch>
              <a:fillRect l="0" t="0" r="0" b="0"/>
            </a:stretch>
          </a:blipFill>
        </p:spPr>
      </p:sp>
      <p:sp>
        <p:nvSpPr>
          <p:cNvPr name="Freeform 8" id="8"/>
          <p:cNvSpPr/>
          <p:nvPr/>
        </p:nvSpPr>
        <p:spPr>
          <a:xfrm flipH="true" flipV="false" rot="0">
            <a:off x="14241352" y="7884979"/>
            <a:ext cx="6699127" cy="2746642"/>
          </a:xfrm>
          <a:custGeom>
            <a:avLst/>
            <a:gdLst/>
            <a:ahLst/>
            <a:cxnLst/>
            <a:rect r="r" b="b" t="t" l="l"/>
            <a:pathLst>
              <a:path h="2746642" w="6699127">
                <a:moveTo>
                  <a:pt x="6699127" y="0"/>
                </a:moveTo>
                <a:lnTo>
                  <a:pt x="0" y="0"/>
                </a:lnTo>
                <a:lnTo>
                  <a:pt x="0" y="2746642"/>
                </a:lnTo>
                <a:lnTo>
                  <a:pt x="6699127" y="2746642"/>
                </a:lnTo>
                <a:lnTo>
                  <a:pt x="6699127" y="0"/>
                </a:lnTo>
                <a:close/>
              </a:path>
            </a:pathLst>
          </a:custGeom>
          <a:blipFill>
            <a:blip r:embed="rId3"/>
            <a:stretch>
              <a:fillRect l="0" t="0" r="0" b="0"/>
            </a:stretch>
          </a:blipFill>
        </p:spPr>
      </p:sp>
      <p:grpSp>
        <p:nvGrpSpPr>
          <p:cNvPr name="Group 9" id="9"/>
          <p:cNvGrpSpPr/>
          <p:nvPr/>
        </p:nvGrpSpPr>
        <p:grpSpPr>
          <a:xfrm rot="0">
            <a:off x="385129" y="4302749"/>
            <a:ext cx="9581520" cy="5248518"/>
            <a:chOff x="0" y="0"/>
            <a:chExt cx="3291612" cy="1803063"/>
          </a:xfrm>
        </p:grpSpPr>
        <p:sp>
          <p:nvSpPr>
            <p:cNvPr name="Freeform 10" id="10"/>
            <p:cNvSpPr/>
            <p:nvPr/>
          </p:nvSpPr>
          <p:spPr>
            <a:xfrm flipH="false" flipV="false" rot="0">
              <a:off x="0" y="0"/>
              <a:ext cx="3291612" cy="1803063"/>
            </a:xfrm>
            <a:custGeom>
              <a:avLst/>
              <a:gdLst/>
              <a:ahLst/>
              <a:cxnLst/>
              <a:rect r="r" b="b" t="t" l="l"/>
              <a:pathLst>
                <a:path h="1803063" w="3291612">
                  <a:moveTo>
                    <a:pt x="40400" y="0"/>
                  </a:moveTo>
                  <a:lnTo>
                    <a:pt x="3251212" y="0"/>
                  </a:lnTo>
                  <a:cubicBezTo>
                    <a:pt x="3273524" y="0"/>
                    <a:pt x="3291612" y="18088"/>
                    <a:pt x="3291612" y="40400"/>
                  </a:cubicBezTo>
                  <a:lnTo>
                    <a:pt x="3291612" y="1762663"/>
                  </a:lnTo>
                  <a:cubicBezTo>
                    <a:pt x="3291612" y="1773378"/>
                    <a:pt x="3287356" y="1783654"/>
                    <a:pt x="3279779" y="1791230"/>
                  </a:cubicBezTo>
                  <a:cubicBezTo>
                    <a:pt x="3272202" y="1798807"/>
                    <a:pt x="3261926" y="1803063"/>
                    <a:pt x="3251212" y="1803063"/>
                  </a:cubicBezTo>
                  <a:lnTo>
                    <a:pt x="40400" y="1803063"/>
                  </a:lnTo>
                  <a:cubicBezTo>
                    <a:pt x="29685" y="1803063"/>
                    <a:pt x="19409" y="1798807"/>
                    <a:pt x="11833" y="1791230"/>
                  </a:cubicBezTo>
                  <a:cubicBezTo>
                    <a:pt x="4256" y="1783654"/>
                    <a:pt x="0" y="1773378"/>
                    <a:pt x="0" y="1762663"/>
                  </a:cubicBezTo>
                  <a:lnTo>
                    <a:pt x="0" y="40400"/>
                  </a:lnTo>
                  <a:cubicBezTo>
                    <a:pt x="0" y="29685"/>
                    <a:pt x="4256" y="19409"/>
                    <a:pt x="11833" y="11833"/>
                  </a:cubicBezTo>
                  <a:cubicBezTo>
                    <a:pt x="19409" y="4256"/>
                    <a:pt x="29685" y="0"/>
                    <a:pt x="40400" y="0"/>
                  </a:cubicBezTo>
                  <a:close/>
                </a:path>
              </a:pathLst>
            </a:custGeom>
            <a:solidFill>
              <a:srgbClr val="FFDCED"/>
            </a:solidFill>
          </p:spPr>
        </p:sp>
        <p:sp>
          <p:nvSpPr>
            <p:cNvPr name="TextBox 11" id="11"/>
            <p:cNvSpPr txBox="true"/>
            <p:nvPr/>
          </p:nvSpPr>
          <p:spPr>
            <a:xfrm>
              <a:off x="0" y="-38100"/>
              <a:ext cx="3291612" cy="1841163"/>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28805" y="4823869"/>
            <a:ext cx="8894168" cy="4276725"/>
          </a:xfrm>
          <a:prstGeom prst="rect">
            <a:avLst/>
          </a:prstGeom>
        </p:spPr>
        <p:txBody>
          <a:bodyPr anchor="t" rtlCol="false" tIns="0" lIns="0" bIns="0" rIns="0">
            <a:spAutoFit/>
          </a:bodyPr>
          <a:lstStyle/>
          <a:p>
            <a:pPr algn="just">
              <a:lnSpc>
                <a:spcPts val="4200"/>
              </a:lnSpc>
              <a:spcBef>
                <a:spcPct val="0"/>
              </a:spcBef>
            </a:pPr>
            <a:r>
              <a:rPr lang="en-US" sz="3000" spc="-60">
                <a:solidFill>
                  <a:srgbClr val="094595"/>
                </a:solidFill>
                <a:latin typeface="Poppins"/>
                <a:ea typeface="Poppins"/>
                <a:cs typeface="Poppins"/>
                <a:sym typeface="Poppins"/>
              </a:rPr>
              <a:t>Alur sistem dimulai dengan membaca data dari file, menambahkan murid baru, menentukan status murid otomatis, menyimpan data, dan mencetak laporan. Sistem menyediakan form input, daftar murid, penghapusan data, serta laporan perkembangan murid. Flowchart menunjukkan alur dari input, proses penentuan status, penyimpanan, hingga output laporan.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4" id="4"/>
          <p:cNvSpPr/>
          <p:nvPr/>
        </p:nvSpPr>
        <p:spPr>
          <a:xfrm flipH="false" flipV="false" rot="1472379">
            <a:off x="11832177" y="-5691653"/>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16685942" y="2728529"/>
            <a:ext cx="1146715" cy="1146715"/>
          </a:xfrm>
          <a:custGeom>
            <a:avLst/>
            <a:gdLst/>
            <a:ahLst/>
            <a:cxnLst/>
            <a:rect r="r" b="b" t="t" l="l"/>
            <a:pathLst>
              <a:path h="1146715" w="1146715">
                <a:moveTo>
                  <a:pt x="0" y="0"/>
                </a:moveTo>
                <a:lnTo>
                  <a:pt x="1146716" y="0"/>
                </a:lnTo>
                <a:lnTo>
                  <a:pt x="1146716" y="1146715"/>
                </a:lnTo>
                <a:lnTo>
                  <a:pt x="0" y="1146715"/>
                </a:lnTo>
                <a:lnTo>
                  <a:pt x="0" y="0"/>
                </a:lnTo>
                <a:close/>
              </a:path>
            </a:pathLst>
          </a:custGeom>
          <a:blipFill>
            <a:blip r:embed="rId4"/>
            <a:stretch>
              <a:fillRect l="0" t="0" r="0" b="0"/>
            </a:stretch>
          </a:blipFill>
        </p:spPr>
      </p:sp>
      <p:sp>
        <p:nvSpPr>
          <p:cNvPr name="Freeform 6" id="6"/>
          <p:cNvSpPr/>
          <p:nvPr/>
        </p:nvSpPr>
        <p:spPr>
          <a:xfrm flipH="false" flipV="false" rot="1472379">
            <a:off x="334895" y="7552913"/>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7" id="7"/>
          <p:cNvSpPr/>
          <p:nvPr/>
        </p:nvSpPr>
        <p:spPr>
          <a:xfrm flipH="false" flipV="false" rot="0">
            <a:off x="11678273" y="1028700"/>
            <a:ext cx="5997901" cy="8630073"/>
          </a:xfrm>
          <a:custGeom>
            <a:avLst/>
            <a:gdLst/>
            <a:ahLst/>
            <a:cxnLst/>
            <a:rect r="r" b="b" t="t" l="l"/>
            <a:pathLst>
              <a:path h="8630073" w="5997901">
                <a:moveTo>
                  <a:pt x="0" y="0"/>
                </a:moveTo>
                <a:lnTo>
                  <a:pt x="5997901" y="0"/>
                </a:lnTo>
                <a:lnTo>
                  <a:pt x="5997901" y="8630073"/>
                </a:lnTo>
                <a:lnTo>
                  <a:pt x="0" y="8630073"/>
                </a:lnTo>
                <a:lnTo>
                  <a:pt x="0" y="0"/>
                </a:lnTo>
                <a:close/>
              </a:path>
            </a:pathLst>
          </a:custGeom>
          <a:blipFill>
            <a:blip r:embed="rId5"/>
            <a:stretch>
              <a:fillRect l="0" t="0" r="0" b="0"/>
            </a:stretch>
          </a:blipFill>
        </p:spPr>
      </p:sp>
      <p:sp>
        <p:nvSpPr>
          <p:cNvPr name="TextBox 8" id="8"/>
          <p:cNvSpPr txBox="true"/>
          <p:nvPr/>
        </p:nvSpPr>
        <p:spPr>
          <a:xfrm rot="0">
            <a:off x="339253" y="222480"/>
            <a:ext cx="11339020" cy="29840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IMPLEMENTASI</a:t>
            </a:r>
          </a:p>
          <a:p>
            <a:pPr algn="l">
              <a:lnSpc>
                <a:spcPts val="11448"/>
              </a:lnSpc>
            </a:pPr>
            <a:r>
              <a:rPr lang="en-US" sz="9620">
                <a:solidFill>
                  <a:srgbClr val="093C80"/>
                </a:solidFill>
                <a:latin typeface="Brasika"/>
                <a:ea typeface="Brasika"/>
                <a:cs typeface="Brasika"/>
                <a:sym typeface="Brasika"/>
              </a:rPr>
              <a:t>ANTAR MUKA</a:t>
            </a:r>
          </a:p>
        </p:txBody>
      </p:sp>
      <p:sp>
        <p:nvSpPr>
          <p:cNvPr name="TextBox 9" id="9"/>
          <p:cNvSpPr txBox="true"/>
          <p:nvPr/>
        </p:nvSpPr>
        <p:spPr>
          <a:xfrm rot="0">
            <a:off x="1028700" y="3381375"/>
            <a:ext cx="8874774" cy="5876925"/>
          </a:xfrm>
          <a:prstGeom prst="rect">
            <a:avLst/>
          </a:prstGeom>
        </p:spPr>
        <p:txBody>
          <a:bodyPr anchor="t" rtlCol="false" tIns="0" lIns="0" bIns="0" rIns="0">
            <a:spAutoFit/>
          </a:bodyPr>
          <a:lstStyle/>
          <a:p>
            <a:pPr algn="just">
              <a:lnSpc>
                <a:spcPts val="4200"/>
              </a:lnSpc>
              <a:spcBef>
                <a:spcPct val="0"/>
              </a:spcBef>
            </a:pPr>
            <a:r>
              <a:rPr lang="en-US" sz="3000" spc="-60">
                <a:solidFill>
                  <a:srgbClr val="094595"/>
                </a:solidFill>
                <a:latin typeface="Poppins"/>
                <a:ea typeface="Poppins"/>
                <a:cs typeface="Poppins"/>
                <a:sym typeface="Poppins"/>
              </a:rPr>
              <a:t>Antarmuka menggunakan Java Swing, dengan menu navigasi beranda, input murid, data murid, dan cetak laporan. Halaman beranda menampilkan informasi aplikasi, halaman input murid berisi form untuk nama, kehadiran, nilai, dan paket les, halaman data murid menampilkan daftar murid beserta fitur hapus, dan tombol cetak laporan menghasilkan file teks. Desain dibuat sederhana agar mudah digunakan dan dipahami.</a:t>
            </a:r>
          </a:p>
          <a:p>
            <a:pPr algn="just">
              <a:lnSpc>
                <a:spcPts val="42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grpSp>
        <p:nvGrpSpPr>
          <p:cNvPr name="Group 4" id="4"/>
          <p:cNvGrpSpPr/>
          <p:nvPr/>
        </p:nvGrpSpPr>
        <p:grpSpPr>
          <a:xfrm rot="0">
            <a:off x="498830" y="3973894"/>
            <a:ext cx="7919390" cy="6126158"/>
            <a:chOff x="0" y="0"/>
            <a:chExt cx="2852146" cy="2206318"/>
          </a:xfrm>
        </p:grpSpPr>
        <p:sp>
          <p:nvSpPr>
            <p:cNvPr name="Freeform 5" id="5"/>
            <p:cNvSpPr/>
            <p:nvPr/>
          </p:nvSpPr>
          <p:spPr>
            <a:xfrm flipH="false" flipV="false" rot="0">
              <a:off x="0" y="0"/>
              <a:ext cx="2852146" cy="2206318"/>
            </a:xfrm>
            <a:custGeom>
              <a:avLst/>
              <a:gdLst/>
              <a:ahLst/>
              <a:cxnLst/>
              <a:rect r="r" b="b" t="t" l="l"/>
              <a:pathLst>
                <a:path h="2206318" w="2852146">
                  <a:moveTo>
                    <a:pt x="97759" y="0"/>
                  </a:moveTo>
                  <a:lnTo>
                    <a:pt x="2754387" y="0"/>
                  </a:lnTo>
                  <a:cubicBezTo>
                    <a:pt x="2780314" y="0"/>
                    <a:pt x="2805179" y="10300"/>
                    <a:pt x="2823513" y="28633"/>
                  </a:cubicBezTo>
                  <a:cubicBezTo>
                    <a:pt x="2841846" y="46966"/>
                    <a:pt x="2852146" y="71832"/>
                    <a:pt x="2852146" y="97759"/>
                  </a:cubicBezTo>
                  <a:lnTo>
                    <a:pt x="2852146" y="2108559"/>
                  </a:lnTo>
                  <a:cubicBezTo>
                    <a:pt x="2852146" y="2134487"/>
                    <a:pt x="2841846" y="2159352"/>
                    <a:pt x="2823513" y="2177685"/>
                  </a:cubicBezTo>
                  <a:cubicBezTo>
                    <a:pt x="2805179" y="2196019"/>
                    <a:pt x="2780314" y="2206318"/>
                    <a:pt x="2754387" y="2206318"/>
                  </a:cubicBezTo>
                  <a:lnTo>
                    <a:pt x="97759" y="2206318"/>
                  </a:lnTo>
                  <a:cubicBezTo>
                    <a:pt x="43768" y="2206318"/>
                    <a:pt x="0" y="2162550"/>
                    <a:pt x="0" y="2108559"/>
                  </a:cubicBezTo>
                  <a:lnTo>
                    <a:pt x="0" y="97759"/>
                  </a:lnTo>
                  <a:cubicBezTo>
                    <a:pt x="0" y="43768"/>
                    <a:pt x="43768" y="0"/>
                    <a:pt x="97759" y="0"/>
                  </a:cubicBezTo>
                  <a:close/>
                </a:path>
              </a:pathLst>
            </a:custGeom>
            <a:solidFill>
              <a:srgbClr val="FDD0E6"/>
            </a:solidFill>
          </p:spPr>
        </p:sp>
        <p:sp>
          <p:nvSpPr>
            <p:cNvPr name="TextBox 6" id="6"/>
            <p:cNvSpPr txBox="true"/>
            <p:nvPr/>
          </p:nvSpPr>
          <p:spPr>
            <a:xfrm>
              <a:off x="0" y="-38100"/>
              <a:ext cx="2852146" cy="2244418"/>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403854" y="1838026"/>
            <a:ext cx="987435" cy="987435"/>
          </a:xfrm>
          <a:custGeom>
            <a:avLst/>
            <a:gdLst/>
            <a:ahLst/>
            <a:cxnLst/>
            <a:rect r="r" b="b" t="t" l="l"/>
            <a:pathLst>
              <a:path h="987435" w="987435">
                <a:moveTo>
                  <a:pt x="0" y="0"/>
                </a:moveTo>
                <a:lnTo>
                  <a:pt x="987435" y="0"/>
                </a:lnTo>
                <a:lnTo>
                  <a:pt x="987435" y="987435"/>
                </a:lnTo>
                <a:lnTo>
                  <a:pt x="0" y="987435"/>
                </a:lnTo>
                <a:lnTo>
                  <a:pt x="0" y="0"/>
                </a:lnTo>
                <a:close/>
              </a:path>
            </a:pathLst>
          </a:custGeom>
          <a:blipFill>
            <a:blip r:embed="rId3"/>
            <a:stretch>
              <a:fillRect l="0" t="0" r="0" b="0"/>
            </a:stretch>
          </a:blipFill>
        </p:spPr>
      </p:sp>
      <p:sp>
        <p:nvSpPr>
          <p:cNvPr name="Freeform 8" id="8"/>
          <p:cNvSpPr/>
          <p:nvPr/>
        </p:nvSpPr>
        <p:spPr>
          <a:xfrm flipH="false" flipV="false" rot="4365905">
            <a:off x="16106452" y="7082206"/>
            <a:ext cx="4363095" cy="4352187"/>
          </a:xfrm>
          <a:custGeom>
            <a:avLst/>
            <a:gdLst/>
            <a:ahLst/>
            <a:cxnLst/>
            <a:rect r="r" b="b" t="t" l="l"/>
            <a:pathLst>
              <a:path h="4352187" w="4363095">
                <a:moveTo>
                  <a:pt x="0" y="0"/>
                </a:moveTo>
                <a:lnTo>
                  <a:pt x="4363096" y="0"/>
                </a:lnTo>
                <a:lnTo>
                  <a:pt x="4363096" y="4352188"/>
                </a:lnTo>
                <a:lnTo>
                  <a:pt x="0" y="4352188"/>
                </a:lnTo>
                <a:lnTo>
                  <a:pt x="0" y="0"/>
                </a:lnTo>
                <a:close/>
              </a:path>
            </a:pathLst>
          </a:custGeom>
          <a:blipFill>
            <a:blip r:embed="rId4"/>
            <a:stretch>
              <a:fillRect l="0" t="0" r="0" b="0"/>
            </a:stretch>
          </a:blipFill>
        </p:spPr>
      </p:sp>
      <p:sp>
        <p:nvSpPr>
          <p:cNvPr name="Freeform 9" id="9"/>
          <p:cNvSpPr/>
          <p:nvPr/>
        </p:nvSpPr>
        <p:spPr>
          <a:xfrm flipH="false" flipV="false" rot="0">
            <a:off x="8781110" y="2623899"/>
            <a:ext cx="3872399" cy="4109788"/>
          </a:xfrm>
          <a:custGeom>
            <a:avLst/>
            <a:gdLst/>
            <a:ahLst/>
            <a:cxnLst/>
            <a:rect r="r" b="b" t="t" l="l"/>
            <a:pathLst>
              <a:path h="4109788" w="3872399">
                <a:moveTo>
                  <a:pt x="0" y="0"/>
                </a:moveTo>
                <a:lnTo>
                  <a:pt x="3872399" y="0"/>
                </a:lnTo>
                <a:lnTo>
                  <a:pt x="3872399" y="4109788"/>
                </a:lnTo>
                <a:lnTo>
                  <a:pt x="0" y="4109788"/>
                </a:lnTo>
                <a:lnTo>
                  <a:pt x="0" y="0"/>
                </a:lnTo>
                <a:close/>
              </a:path>
            </a:pathLst>
          </a:custGeom>
          <a:blipFill>
            <a:blip r:embed="rId5"/>
            <a:stretch>
              <a:fillRect l="0" t="0" r="0" b="0"/>
            </a:stretch>
          </a:blipFill>
        </p:spPr>
      </p:sp>
      <p:sp>
        <p:nvSpPr>
          <p:cNvPr name="Freeform 10" id="10"/>
          <p:cNvSpPr/>
          <p:nvPr/>
        </p:nvSpPr>
        <p:spPr>
          <a:xfrm flipH="false" flipV="false" rot="0">
            <a:off x="8781110" y="6733687"/>
            <a:ext cx="4699009" cy="1677424"/>
          </a:xfrm>
          <a:custGeom>
            <a:avLst/>
            <a:gdLst/>
            <a:ahLst/>
            <a:cxnLst/>
            <a:rect r="r" b="b" t="t" l="l"/>
            <a:pathLst>
              <a:path h="1677424" w="4699009">
                <a:moveTo>
                  <a:pt x="0" y="0"/>
                </a:moveTo>
                <a:lnTo>
                  <a:pt x="4699009" y="0"/>
                </a:lnTo>
                <a:lnTo>
                  <a:pt x="4699009" y="1677424"/>
                </a:lnTo>
                <a:lnTo>
                  <a:pt x="0" y="1677424"/>
                </a:lnTo>
                <a:lnTo>
                  <a:pt x="0" y="0"/>
                </a:lnTo>
                <a:close/>
              </a:path>
            </a:pathLst>
          </a:custGeom>
          <a:blipFill>
            <a:blip r:embed="rId6"/>
            <a:stretch>
              <a:fillRect l="0" t="0" r="0" b="0"/>
            </a:stretch>
          </a:blipFill>
        </p:spPr>
      </p:sp>
      <p:sp>
        <p:nvSpPr>
          <p:cNvPr name="Freeform 11" id="11"/>
          <p:cNvSpPr/>
          <p:nvPr/>
        </p:nvSpPr>
        <p:spPr>
          <a:xfrm flipH="false" flipV="false" rot="0">
            <a:off x="12653509" y="2623899"/>
            <a:ext cx="5209329" cy="1688366"/>
          </a:xfrm>
          <a:custGeom>
            <a:avLst/>
            <a:gdLst/>
            <a:ahLst/>
            <a:cxnLst/>
            <a:rect r="r" b="b" t="t" l="l"/>
            <a:pathLst>
              <a:path h="1688366" w="5209329">
                <a:moveTo>
                  <a:pt x="0" y="0"/>
                </a:moveTo>
                <a:lnTo>
                  <a:pt x="5209329" y="0"/>
                </a:lnTo>
                <a:lnTo>
                  <a:pt x="5209329" y="1688366"/>
                </a:lnTo>
                <a:lnTo>
                  <a:pt x="0" y="1688366"/>
                </a:lnTo>
                <a:lnTo>
                  <a:pt x="0" y="0"/>
                </a:lnTo>
                <a:close/>
              </a:path>
            </a:pathLst>
          </a:custGeom>
          <a:blipFill>
            <a:blip r:embed="rId7"/>
            <a:stretch>
              <a:fillRect l="0" t="0" r="0" b="0"/>
            </a:stretch>
          </a:blipFill>
        </p:spPr>
      </p:sp>
      <p:sp>
        <p:nvSpPr>
          <p:cNvPr name="Freeform 12" id="12"/>
          <p:cNvSpPr/>
          <p:nvPr/>
        </p:nvSpPr>
        <p:spPr>
          <a:xfrm flipH="false" flipV="false" rot="0">
            <a:off x="12653509" y="4991466"/>
            <a:ext cx="5209329" cy="1742222"/>
          </a:xfrm>
          <a:custGeom>
            <a:avLst/>
            <a:gdLst/>
            <a:ahLst/>
            <a:cxnLst/>
            <a:rect r="r" b="b" t="t" l="l"/>
            <a:pathLst>
              <a:path h="1742222" w="5209329">
                <a:moveTo>
                  <a:pt x="0" y="0"/>
                </a:moveTo>
                <a:lnTo>
                  <a:pt x="5209329" y="0"/>
                </a:lnTo>
                <a:lnTo>
                  <a:pt x="5209329" y="1742221"/>
                </a:lnTo>
                <a:lnTo>
                  <a:pt x="0" y="1742221"/>
                </a:lnTo>
                <a:lnTo>
                  <a:pt x="0" y="0"/>
                </a:lnTo>
                <a:close/>
              </a:path>
            </a:pathLst>
          </a:custGeom>
          <a:blipFill>
            <a:blip r:embed="rId8"/>
            <a:stretch>
              <a:fillRect l="0" t="0" r="0" b="0"/>
            </a:stretch>
          </a:blipFill>
        </p:spPr>
      </p:sp>
      <p:sp>
        <p:nvSpPr>
          <p:cNvPr name="Freeform 13" id="13"/>
          <p:cNvSpPr/>
          <p:nvPr/>
        </p:nvSpPr>
        <p:spPr>
          <a:xfrm flipH="false" flipV="false" rot="0">
            <a:off x="13480119" y="6733687"/>
            <a:ext cx="4450370" cy="1664706"/>
          </a:xfrm>
          <a:custGeom>
            <a:avLst/>
            <a:gdLst/>
            <a:ahLst/>
            <a:cxnLst/>
            <a:rect r="r" b="b" t="t" l="l"/>
            <a:pathLst>
              <a:path h="1664706" w="4450370">
                <a:moveTo>
                  <a:pt x="0" y="0"/>
                </a:moveTo>
                <a:lnTo>
                  <a:pt x="4450370" y="0"/>
                </a:lnTo>
                <a:lnTo>
                  <a:pt x="4450370" y="1664706"/>
                </a:lnTo>
                <a:lnTo>
                  <a:pt x="0" y="1664706"/>
                </a:lnTo>
                <a:lnTo>
                  <a:pt x="0" y="0"/>
                </a:lnTo>
                <a:close/>
              </a:path>
            </a:pathLst>
          </a:custGeom>
          <a:blipFill>
            <a:blip r:embed="rId9"/>
            <a:stretch>
              <a:fillRect l="0" t="0" r="0" b="0"/>
            </a:stretch>
          </a:blipFill>
        </p:spPr>
      </p:sp>
      <p:sp>
        <p:nvSpPr>
          <p:cNvPr name="Freeform 14" id="14"/>
          <p:cNvSpPr/>
          <p:nvPr/>
        </p:nvSpPr>
        <p:spPr>
          <a:xfrm flipH="false" flipV="false" rot="0">
            <a:off x="10717310" y="8345345"/>
            <a:ext cx="5018911" cy="1825910"/>
          </a:xfrm>
          <a:custGeom>
            <a:avLst/>
            <a:gdLst/>
            <a:ahLst/>
            <a:cxnLst/>
            <a:rect r="r" b="b" t="t" l="l"/>
            <a:pathLst>
              <a:path h="1825910" w="5018911">
                <a:moveTo>
                  <a:pt x="0" y="0"/>
                </a:moveTo>
                <a:lnTo>
                  <a:pt x="5018911" y="0"/>
                </a:lnTo>
                <a:lnTo>
                  <a:pt x="5018911" y="1825910"/>
                </a:lnTo>
                <a:lnTo>
                  <a:pt x="0" y="1825910"/>
                </a:lnTo>
                <a:lnTo>
                  <a:pt x="0" y="0"/>
                </a:lnTo>
                <a:close/>
              </a:path>
            </a:pathLst>
          </a:custGeom>
          <a:blipFill>
            <a:blip r:embed="rId10"/>
            <a:stretch>
              <a:fillRect l="0" t="0" r="0" b="0"/>
            </a:stretch>
          </a:blipFill>
        </p:spPr>
      </p:sp>
      <p:sp>
        <p:nvSpPr>
          <p:cNvPr name="TextBox 15" id="15"/>
          <p:cNvSpPr txBox="true"/>
          <p:nvPr/>
        </p:nvSpPr>
        <p:spPr>
          <a:xfrm rot="0">
            <a:off x="498830" y="287084"/>
            <a:ext cx="10968761" cy="3686810"/>
          </a:xfrm>
          <a:prstGeom prst="rect">
            <a:avLst/>
          </a:prstGeom>
        </p:spPr>
        <p:txBody>
          <a:bodyPr anchor="t" rtlCol="false" tIns="0" lIns="0" bIns="0" rIns="0">
            <a:spAutoFit/>
          </a:bodyPr>
          <a:lstStyle/>
          <a:p>
            <a:pPr algn="l">
              <a:lnSpc>
                <a:spcPts val="9520"/>
              </a:lnSpc>
            </a:pPr>
            <a:r>
              <a:rPr lang="en-US" sz="8000">
                <a:solidFill>
                  <a:srgbClr val="093C80"/>
                </a:solidFill>
                <a:latin typeface="Brasika"/>
                <a:ea typeface="Brasika"/>
                <a:cs typeface="Brasika"/>
                <a:sym typeface="Brasika"/>
              </a:rPr>
              <a:t>IMPLEMENTASI</a:t>
            </a:r>
          </a:p>
          <a:p>
            <a:pPr algn="l">
              <a:lnSpc>
                <a:spcPts val="9520"/>
              </a:lnSpc>
            </a:pPr>
            <a:r>
              <a:rPr lang="en-US" sz="8000">
                <a:solidFill>
                  <a:srgbClr val="093C80"/>
                </a:solidFill>
                <a:latin typeface="Brasika"/>
                <a:ea typeface="Brasika"/>
                <a:cs typeface="Brasika"/>
                <a:sym typeface="Brasika"/>
              </a:rPr>
              <a:t>DATA DAN PAKET LES</a:t>
            </a:r>
          </a:p>
        </p:txBody>
      </p:sp>
      <p:sp>
        <p:nvSpPr>
          <p:cNvPr name="TextBox 16" id="16"/>
          <p:cNvSpPr txBox="true"/>
          <p:nvPr/>
        </p:nvSpPr>
        <p:spPr>
          <a:xfrm rot="0">
            <a:off x="763765" y="4294330"/>
            <a:ext cx="7389520" cy="5876925"/>
          </a:xfrm>
          <a:prstGeom prst="rect">
            <a:avLst/>
          </a:prstGeom>
        </p:spPr>
        <p:txBody>
          <a:bodyPr anchor="t" rtlCol="false" tIns="0" lIns="0" bIns="0" rIns="0">
            <a:spAutoFit/>
          </a:bodyPr>
          <a:lstStyle/>
          <a:p>
            <a:pPr algn="just">
              <a:lnSpc>
                <a:spcPts val="4200"/>
              </a:lnSpc>
              <a:spcBef>
                <a:spcPct val="0"/>
              </a:spcBef>
            </a:pPr>
            <a:r>
              <a:rPr lang="en-US" sz="3000" spc="-60">
                <a:solidFill>
                  <a:srgbClr val="094595"/>
                </a:solidFill>
                <a:latin typeface="Poppins"/>
                <a:ea typeface="Poppins"/>
                <a:cs typeface="Poppins"/>
                <a:sym typeface="Poppins"/>
              </a:rPr>
              <a:t>Data murid disimpan dalam ArrayList dan file teks. Class Murid menyimpan atribut dasar, dengan MuridAktif dan MuridPasif menentukan status. Interface Paket diimplementasikan oleh PaketReguler dan PaketIntensif, sehingga penambahan paket baru di masa depan menjadi fleksibel. Data murid disimpan ke file murid_les.txt dan dibaca kembali saat aplikasi dijalankan.</a:t>
            </a:r>
          </a:p>
          <a:p>
            <a:pPr algn="just">
              <a:lnSpc>
                <a:spcPts val="42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true" flipV="false" rot="0">
            <a:off x="12276836" y="7884979"/>
            <a:ext cx="6699127" cy="2746642"/>
          </a:xfrm>
          <a:custGeom>
            <a:avLst/>
            <a:gdLst/>
            <a:ahLst/>
            <a:cxnLst/>
            <a:rect r="r" b="b" t="t" l="l"/>
            <a:pathLst>
              <a:path h="2746642" w="6699127">
                <a:moveTo>
                  <a:pt x="6699127" y="0"/>
                </a:moveTo>
                <a:lnTo>
                  <a:pt x="0" y="0"/>
                </a:lnTo>
                <a:lnTo>
                  <a:pt x="0" y="2746642"/>
                </a:lnTo>
                <a:lnTo>
                  <a:pt x="6699127" y="2746642"/>
                </a:lnTo>
                <a:lnTo>
                  <a:pt x="6699127" y="0"/>
                </a:lnTo>
                <a:close/>
              </a:path>
            </a:pathLst>
          </a:custGeom>
          <a:blipFill>
            <a:blip r:embed="rId2"/>
            <a:stretch>
              <a:fillRect l="0" t="0" r="0" b="0"/>
            </a:stretch>
          </a:blipFill>
        </p:spPr>
      </p:sp>
      <p:sp>
        <p:nvSpPr>
          <p:cNvPr name="Freeform 3" id="3"/>
          <p:cNvSpPr/>
          <p:nvPr/>
        </p:nvSpPr>
        <p:spPr>
          <a:xfrm flipH="false" flipV="false" rot="0">
            <a:off x="6015967" y="2841257"/>
            <a:ext cx="1353195" cy="1353195"/>
          </a:xfrm>
          <a:custGeom>
            <a:avLst/>
            <a:gdLst/>
            <a:ahLst/>
            <a:cxnLst/>
            <a:rect r="r" b="b" t="t" l="l"/>
            <a:pathLst>
              <a:path h="1353195" w="1353195">
                <a:moveTo>
                  <a:pt x="0" y="0"/>
                </a:moveTo>
                <a:lnTo>
                  <a:pt x="1353196" y="0"/>
                </a:lnTo>
                <a:lnTo>
                  <a:pt x="1353196" y="1353196"/>
                </a:lnTo>
                <a:lnTo>
                  <a:pt x="0" y="1353196"/>
                </a:lnTo>
                <a:lnTo>
                  <a:pt x="0" y="0"/>
                </a:lnTo>
                <a:close/>
              </a:path>
            </a:pathLst>
          </a:custGeom>
          <a:blipFill>
            <a:blip r:embed="rId3"/>
            <a:stretch>
              <a:fillRect l="0" t="0" r="0" b="0"/>
            </a:stretch>
          </a:blipFill>
        </p:spPr>
      </p:sp>
      <p:sp>
        <p:nvSpPr>
          <p:cNvPr name="Freeform 4" id="4"/>
          <p:cNvSpPr/>
          <p:nvPr/>
        </p:nvSpPr>
        <p:spPr>
          <a:xfrm flipH="false" flipV="false" rot="-6753573">
            <a:off x="-3047629" y="5645407"/>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804409" y="3109573"/>
            <a:ext cx="4251216" cy="6356958"/>
          </a:xfrm>
          <a:custGeom>
            <a:avLst/>
            <a:gdLst/>
            <a:ahLst/>
            <a:cxnLst/>
            <a:rect r="r" b="b" t="t" l="l"/>
            <a:pathLst>
              <a:path h="6356958" w="4251216">
                <a:moveTo>
                  <a:pt x="0" y="0"/>
                </a:moveTo>
                <a:lnTo>
                  <a:pt x="4251216" y="0"/>
                </a:lnTo>
                <a:lnTo>
                  <a:pt x="4251216" y="6356959"/>
                </a:lnTo>
                <a:lnTo>
                  <a:pt x="0" y="6356959"/>
                </a:lnTo>
                <a:lnTo>
                  <a:pt x="0" y="0"/>
                </a:lnTo>
                <a:close/>
              </a:path>
            </a:pathLst>
          </a:custGeom>
          <a:blipFill>
            <a:blip r:embed="rId5"/>
            <a:stretch>
              <a:fillRect l="0" t="0" r="0" b="0"/>
            </a:stretch>
          </a:blipFill>
        </p:spPr>
      </p:sp>
      <p:sp>
        <p:nvSpPr>
          <p:cNvPr name="Freeform 6" id="6"/>
          <p:cNvSpPr/>
          <p:nvPr/>
        </p:nvSpPr>
        <p:spPr>
          <a:xfrm flipH="false" flipV="false" rot="0">
            <a:off x="5506315" y="5008640"/>
            <a:ext cx="5320416" cy="4457891"/>
          </a:xfrm>
          <a:custGeom>
            <a:avLst/>
            <a:gdLst/>
            <a:ahLst/>
            <a:cxnLst/>
            <a:rect r="r" b="b" t="t" l="l"/>
            <a:pathLst>
              <a:path h="4457891" w="5320416">
                <a:moveTo>
                  <a:pt x="0" y="0"/>
                </a:moveTo>
                <a:lnTo>
                  <a:pt x="5320416" y="0"/>
                </a:lnTo>
                <a:lnTo>
                  <a:pt x="5320416" y="4457892"/>
                </a:lnTo>
                <a:lnTo>
                  <a:pt x="0" y="4457892"/>
                </a:lnTo>
                <a:lnTo>
                  <a:pt x="0" y="0"/>
                </a:lnTo>
                <a:close/>
              </a:path>
            </a:pathLst>
          </a:custGeom>
          <a:blipFill>
            <a:blip r:embed="rId6"/>
            <a:stretch>
              <a:fillRect l="0" t="0" r="0" b="0"/>
            </a:stretch>
          </a:blipFill>
        </p:spPr>
      </p:sp>
      <p:sp>
        <p:nvSpPr>
          <p:cNvPr name="TextBox 7" id="7"/>
          <p:cNvSpPr txBox="true"/>
          <p:nvPr/>
        </p:nvSpPr>
        <p:spPr>
          <a:xfrm rot="0">
            <a:off x="2866854" y="68212"/>
            <a:ext cx="10927417" cy="2639695"/>
          </a:xfrm>
          <a:prstGeom prst="rect">
            <a:avLst/>
          </a:prstGeom>
        </p:spPr>
        <p:txBody>
          <a:bodyPr anchor="t" rtlCol="false" tIns="0" lIns="0" bIns="0" rIns="0">
            <a:spAutoFit/>
          </a:bodyPr>
          <a:lstStyle/>
          <a:p>
            <a:pPr algn="ctr">
              <a:lnSpc>
                <a:spcPts val="10114"/>
              </a:lnSpc>
            </a:pPr>
            <a:r>
              <a:rPr lang="en-US" sz="8499">
                <a:solidFill>
                  <a:srgbClr val="093C80"/>
                </a:solidFill>
                <a:latin typeface="Brasika"/>
                <a:ea typeface="Brasika"/>
                <a:cs typeface="Brasika"/>
                <a:sym typeface="Brasika"/>
              </a:rPr>
              <a:t>PENYIMPANAN DAN LAPORAN</a:t>
            </a:r>
          </a:p>
        </p:txBody>
      </p:sp>
      <p:sp>
        <p:nvSpPr>
          <p:cNvPr name="TextBox 8" id="8"/>
          <p:cNvSpPr txBox="true"/>
          <p:nvPr/>
        </p:nvSpPr>
        <p:spPr>
          <a:xfrm rot="0">
            <a:off x="11338073" y="2927754"/>
            <a:ext cx="6813626" cy="5704703"/>
          </a:xfrm>
          <a:prstGeom prst="rect">
            <a:avLst/>
          </a:prstGeom>
        </p:spPr>
        <p:txBody>
          <a:bodyPr anchor="t" rtlCol="false" tIns="0" lIns="0" bIns="0" rIns="0">
            <a:spAutoFit/>
          </a:bodyPr>
          <a:lstStyle/>
          <a:p>
            <a:pPr algn="just">
              <a:lnSpc>
                <a:spcPts val="4082"/>
              </a:lnSpc>
              <a:spcBef>
                <a:spcPct val="0"/>
              </a:spcBef>
            </a:pPr>
            <a:r>
              <a:rPr lang="en-US" sz="2915" spc="-58">
                <a:solidFill>
                  <a:srgbClr val="094595"/>
                </a:solidFill>
                <a:latin typeface="Poppins"/>
                <a:ea typeface="Poppins"/>
                <a:cs typeface="Poppins"/>
                <a:sym typeface="Poppins"/>
              </a:rPr>
              <a:t>Class FileHelper menyimpan dan membaca data murid dari file teks, sedangkan class CetakLaporan membuat file laporan_les.txt berisi nama murid, status, nilai akhir, dan paket les. Mekanisme ini menjaga data tetap aman dan dapat digunakan kembali, sekaligus memudahkan pengelola les dalam memantau perkembangan murid.</a:t>
            </a:r>
          </a:p>
          <a:p>
            <a:pPr algn="just">
              <a:lnSpc>
                <a:spcPts val="4082"/>
              </a:lnSpc>
              <a:spcBef>
                <a:spcPct val="0"/>
              </a:spcBef>
            </a:pPr>
          </a:p>
        </p:txBody>
      </p:sp>
      <p:sp>
        <p:nvSpPr>
          <p:cNvPr name="Freeform 9" id="9"/>
          <p:cNvSpPr/>
          <p:nvPr/>
        </p:nvSpPr>
        <p:spPr>
          <a:xfrm flipH="false" flipV="false" rot="0">
            <a:off x="9144000" y="3517855"/>
            <a:ext cx="1353195" cy="1353195"/>
          </a:xfrm>
          <a:custGeom>
            <a:avLst/>
            <a:gdLst/>
            <a:ahLst/>
            <a:cxnLst/>
            <a:rect r="r" b="b" t="t" l="l"/>
            <a:pathLst>
              <a:path h="1353195" w="1353195">
                <a:moveTo>
                  <a:pt x="0" y="0"/>
                </a:moveTo>
                <a:lnTo>
                  <a:pt x="1353195" y="0"/>
                </a:lnTo>
                <a:lnTo>
                  <a:pt x="1353195" y="1353195"/>
                </a:lnTo>
                <a:lnTo>
                  <a:pt x="0" y="1353195"/>
                </a:lnTo>
                <a:lnTo>
                  <a:pt x="0" y="0"/>
                </a:lnTo>
                <a:close/>
              </a:path>
            </a:pathLst>
          </a:custGeom>
          <a:blipFill>
            <a:blip r:embed="rId3"/>
            <a:stretch>
              <a:fillRect l="0" t="0" r="0" b="0"/>
            </a:stretch>
          </a:blipFill>
        </p:spPr>
      </p:sp>
      <p:sp>
        <p:nvSpPr>
          <p:cNvPr name="Freeform 10" id="10"/>
          <p:cNvSpPr/>
          <p:nvPr/>
        </p:nvSpPr>
        <p:spPr>
          <a:xfrm flipH="false" flipV="false" rot="0">
            <a:off x="14273204" y="-344621"/>
            <a:ext cx="6699127" cy="2746642"/>
          </a:xfrm>
          <a:custGeom>
            <a:avLst/>
            <a:gdLst/>
            <a:ahLst/>
            <a:cxnLst/>
            <a:rect r="r" b="b" t="t" l="l"/>
            <a:pathLst>
              <a:path h="2746642" w="6699127">
                <a:moveTo>
                  <a:pt x="0" y="0"/>
                </a:moveTo>
                <a:lnTo>
                  <a:pt x="6699127" y="0"/>
                </a:lnTo>
                <a:lnTo>
                  <a:pt x="6699127" y="2746642"/>
                </a:lnTo>
                <a:lnTo>
                  <a:pt x="0" y="2746642"/>
                </a:lnTo>
                <a:lnTo>
                  <a:pt x="0" y="0"/>
                </a:lnTo>
                <a:close/>
              </a:path>
            </a:pathLst>
          </a:custGeom>
          <a:blipFill>
            <a:blip r:embed="rId2"/>
            <a:stretch>
              <a:fillRect l="0" t="0" r="0" b="0"/>
            </a:stretch>
          </a:blipFill>
        </p:spPr>
      </p:sp>
      <p:sp>
        <p:nvSpPr>
          <p:cNvPr name="Freeform 11" id="11"/>
          <p:cNvSpPr/>
          <p:nvPr/>
        </p:nvSpPr>
        <p:spPr>
          <a:xfrm flipH="false" flipV="false" rot="0">
            <a:off x="16269572" y="1233853"/>
            <a:ext cx="1353195" cy="1353195"/>
          </a:xfrm>
          <a:custGeom>
            <a:avLst/>
            <a:gdLst/>
            <a:ahLst/>
            <a:cxnLst/>
            <a:rect r="r" b="b" t="t" l="l"/>
            <a:pathLst>
              <a:path h="1353195" w="1353195">
                <a:moveTo>
                  <a:pt x="0" y="0"/>
                </a:moveTo>
                <a:lnTo>
                  <a:pt x="1353196" y="0"/>
                </a:lnTo>
                <a:lnTo>
                  <a:pt x="1353196" y="1353196"/>
                </a:lnTo>
                <a:lnTo>
                  <a:pt x="0" y="1353196"/>
                </a:lnTo>
                <a:lnTo>
                  <a:pt x="0" y="0"/>
                </a:lnTo>
                <a:close/>
              </a:path>
            </a:pathLst>
          </a:custGeom>
          <a:blipFill>
            <a:blip r:embed="rId3"/>
            <a:stretch>
              <a:fillRect l="0" t="0" r="0" b="0"/>
            </a:stretch>
          </a:blipFill>
        </p:spPr>
      </p:sp>
      <p:sp>
        <p:nvSpPr>
          <p:cNvPr name="Freeform 12" id="12"/>
          <p:cNvSpPr/>
          <p:nvPr/>
        </p:nvSpPr>
        <p:spPr>
          <a:xfrm flipH="false" flipV="false" rot="4365905">
            <a:off x="-1264886" y="-541848"/>
            <a:ext cx="3248383" cy="3240262"/>
          </a:xfrm>
          <a:custGeom>
            <a:avLst/>
            <a:gdLst/>
            <a:ahLst/>
            <a:cxnLst/>
            <a:rect r="r" b="b" t="t" l="l"/>
            <a:pathLst>
              <a:path h="3240262" w="3248383">
                <a:moveTo>
                  <a:pt x="0" y="0"/>
                </a:moveTo>
                <a:lnTo>
                  <a:pt x="3248382" y="0"/>
                </a:lnTo>
                <a:lnTo>
                  <a:pt x="3248382" y="3240262"/>
                </a:lnTo>
                <a:lnTo>
                  <a:pt x="0" y="3240262"/>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0">
            <a:off x="-5547305" y="-985375"/>
            <a:ext cx="7820855" cy="5894970"/>
          </a:xfrm>
          <a:custGeom>
            <a:avLst/>
            <a:gdLst/>
            <a:ahLst/>
            <a:cxnLst/>
            <a:rect r="r" b="b" t="t" l="l"/>
            <a:pathLst>
              <a:path h="5894970" w="7820855">
                <a:moveTo>
                  <a:pt x="0" y="0"/>
                </a:moveTo>
                <a:lnTo>
                  <a:pt x="7820856" y="0"/>
                </a:lnTo>
                <a:lnTo>
                  <a:pt x="7820856" y="5894969"/>
                </a:lnTo>
                <a:lnTo>
                  <a:pt x="0" y="5894969"/>
                </a:lnTo>
                <a:lnTo>
                  <a:pt x="0" y="0"/>
                </a:lnTo>
                <a:close/>
              </a:path>
            </a:pathLst>
          </a:custGeom>
          <a:blipFill>
            <a:blip r:embed="rId2"/>
            <a:stretch>
              <a:fillRect l="0" t="0" r="0" b="0"/>
            </a:stretch>
          </a:blipFill>
        </p:spPr>
      </p:sp>
      <p:sp>
        <p:nvSpPr>
          <p:cNvPr name="Freeform 3" id="3"/>
          <p:cNvSpPr/>
          <p:nvPr/>
        </p:nvSpPr>
        <p:spPr>
          <a:xfrm flipH="false" flipV="false" rot="7801854">
            <a:off x="-2407158" y="6306171"/>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3006746">
            <a:off x="14155057" y="-4480306"/>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14026925" y="5533946"/>
            <a:ext cx="7820855" cy="5894970"/>
          </a:xfrm>
          <a:custGeom>
            <a:avLst/>
            <a:gdLst/>
            <a:ahLst/>
            <a:cxnLst/>
            <a:rect r="r" b="b" t="t" l="l"/>
            <a:pathLst>
              <a:path h="5894970" w="7820855">
                <a:moveTo>
                  <a:pt x="0" y="0"/>
                </a:moveTo>
                <a:lnTo>
                  <a:pt x="7820855" y="0"/>
                </a:lnTo>
                <a:lnTo>
                  <a:pt x="7820855" y="5894969"/>
                </a:lnTo>
                <a:lnTo>
                  <a:pt x="0" y="5894969"/>
                </a:lnTo>
                <a:lnTo>
                  <a:pt x="0" y="0"/>
                </a:lnTo>
                <a:close/>
              </a:path>
            </a:pathLst>
          </a:custGeom>
          <a:blipFill>
            <a:blip r:embed="rId2"/>
            <a:stretch>
              <a:fillRect l="0" t="0" r="0" b="0"/>
            </a:stretch>
          </a:blipFill>
        </p:spPr>
      </p:sp>
      <p:sp>
        <p:nvSpPr>
          <p:cNvPr name="Freeform 6" id="6"/>
          <p:cNvSpPr/>
          <p:nvPr/>
        </p:nvSpPr>
        <p:spPr>
          <a:xfrm flipH="false" flipV="false" rot="0">
            <a:off x="16376484" y="2385271"/>
            <a:ext cx="1560869" cy="1560869"/>
          </a:xfrm>
          <a:custGeom>
            <a:avLst/>
            <a:gdLst/>
            <a:ahLst/>
            <a:cxnLst/>
            <a:rect r="r" b="b" t="t" l="l"/>
            <a:pathLst>
              <a:path h="1560869" w="1560869">
                <a:moveTo>
                  <a:pt x="0" y="0"/>
                </a:moveTo>
                <a:lnTo>
                  <a:pt x="1560869" y="0"/>
                </a:lnTo>
                <a:lnTo>
                  <a:pt x="1560869" y="1560869"/>
                </a:lnTo>
                <a:lnTo>
                  <a:pt x="0" y="1560869"/>
                </a:lnTo>
                <a:lnTo>
                  <a:pt x="0" y="0"/>
                </a:lnTo>
                <a:close/>
              </a:path>
            </a:pathLst>
          </a:custGeom>
          <a:blipFill>
            <a:blip r:embed="rId4"/>
            <a:stretch>
              <a:fillRect l="0" t="0" r="0" b="0"/>
            </a:stretch>
          </a:blipFill>
        </p:spPr>
      </p:sp>
      <p:sp>
        <p:nvSpPr>
          <p:cNvPr name="Freeform 7" id="7"/>
          <p:cNvSpPr/>
          <p:nvPr/>
        </p:nvSpPr>
        <p:spPr>
          <a:xfrm flipH="false" flipV="false" rot="0">
            <a:off x="1374974" y="1995780"/>
            <a:ext cx="6912697" cy="3851638"/>
          </a:xfrm>
          <a:custGeom>
            <a:avLst/>
            <a:gdLst/>
            <a:ahLst/>
            <a:cxnLst/>
            <a:rect r="r" b="b" t="t" l="l"/>
            <a:pathLst>
              <a:path h="3851638" w="6912697">
                <a:moveTo>
                  <a:pt x="0" y="0"/>
                </a:moveTo>
                <a:lnTo>
                  <a:pt x="6912697" y="0"/>
                </a:lnTo>
                <a:lnTo>
                  <a:pt x="6912697" y="3851638"/>
                </a:lnTo>
                <a:lnTo>
                  <a:pt x="0" y="3851638"/>
                </a:lnTo>
                <a:lnTo>
                  <a:pt x="0" y="0"/>
                </a:lnTo>
                <a:close/>
              </a:path>
            </a:pathLst>
          </a:custGeom>
          <a:blipFill>
            <a:blip r:embed="rId5"/>
            <a:stretch>
              <a:fillRect l="0" t="0" r="0" b="0"/>
            </a:stretch>
          </a:blipFill>
        </p:spPr>
      </p:sp>
      <p:sp>
        <p:nvSpPr>
          <p:cNvPr name="Freeform 8" id="8"/>
          <p:cNvSpPr/>
          <p:nvPr/>
        </p:nvSpPr>
        <p:spPr>
          <a:xfrm flipH="false" flipV="false" rot="0">
            <a:off x="9684405" y="2020321"/>
            <a:ext cx="6692079" cy="3802556"/>
          </a:xfrm>
          <a:custGeom>
            <a:avLst/>
            <a:gdLst/>
            <a:ahLst/>
            <a:cxnLst/>
            <a:rect r="r" b="b" t="t" l="l"/>
            <a:pathLst>
              <a:path h="3802556" w="6692079">
                <a:moveTo>
                  <a:pt x="0" y="0"/>
                </a:moveTo>
                <a:lnTo>
                  <a:pt x="6692079" y="0"/>
                </a:lnTo>
                <a:lnTo>
                  <a:pt x="6692079" y="3802556"/>
                </a:lnTo>
                <a:lnTo>
                  <a:pt x="0" y="3802556"/>
                </a:lnTo>
                <a:lnTo>
                  <a:pt x="0" y="0"/>
                </a:lnTo>
                <a:close/>
              </a:path>
            </a:pathLst>
          </a:custGeom>
          <a:blipFill>
            <a:blip r:embed="rId6"/>
            <a:stretch>
              <a:fillRect l="0" t="0" r="0" b="0"/>
            </a:stretch>
          </a:blipFill>
        </p:spPr>
      </p:sp>
      <p:sp>
        <p:nvSpPr>
          <p:cNvPr name="Freeform 9" id="9"/>
          <p:cNvSpPr/>
          <p:nvPr/>
        </p:nvSpPr>
        <p:spPr>
          <a:xfrm flipH="false" flipV="false" rot="0">
            <a:off x="1374974" y="6187827"/>
            <a:ext cx="6912697" cy="3937248"/>
          </a:xfrm>
          <a:custGeom>
            <a:avLst/>
            <a:gdLst/>
            <a:ahLst/>
            <a:cxnLst/>
            <a:rect r="r" b="b" t="t" l="l"/>
            <a:pathLst>
              <a:path h="3937248" w="6912697">
                <a:moveTo>
                  <a:pt x="0" y="0"/>
                </a:moveTo>
                <a:lnTo>
                  <a:pt x="6912697" y="0"/>
                </a:lnTo>
                <a:lnTo>
                  <a:pt x="6912697" y="3937248"/>
                </a:lnTo>
                <a:lnTo>
                  <a:pt x="0" y="3937248"/>
                </a:lnTo>
                <a:lnTo>
                  <a:pt x="0" y="0"/>
                </a:lnTo>
                <a:close/>
              </a:path>
            </a:pathLst>
          </a:custGeom>
          <a:blipFill>
            <a:blip r:embed="rId7"/>
            <a:stretch>
              <a:fillRect l="0" t="0" r="0" b="0"/>
            </a:stretch>
          </a:blipFill>
        </p:spPr>
      </p:sp>
      <p:sp>
        <p:nvSpPr>
          <p:cNvPr name="Freeform 10" id="10"/>
          <p:cNvSpPr/>
          <p:nvPr/>
        </p:nvSpPr>
        <p:spPr>
          <a:xfrm flipH="false" flipV="false" rot="0">
            <a:off x="9684405" y="6187827"/>
            <a:ext cx="6692079" cy="3804616"/>
          </a:xfrm>
          <a:custGeom>
            <a:avLst/>
            <a:gdLst/>
            <a:ahLst/>
            <a:cxnLst/>
            <a:rect r="r" b="b" t="t" l="l"/>
            <a:pathLst>
              <a:path h="3804616" w="6692079">
                <a:moveTo>
                  <a:pt x="0" y="0"/>
                </a:moveTo>
                <a:lnTo>
                  <a:pt x="6692079" y="0"/>
                </a:lnTo>
                <a:lnTo>
                  <a:pt x="6692079" y="3804616"/>
                </a:lnTo>
                <a:lnTo>
                  <a:pt x="0" y="3804616"/>
                </a:lnTo>
                <a:lnTo>
                  <a:pt x="0" y="0"/>
                </a:lnTo>
                <a:close/>
              </a:path>
            </a:pathLst>
          </a:custGeom>
          <a:blipFill>
            <a:blip r:embed="rId8"/>
            <a:stretch>
              <a:fillRect l="0" t="0" r="0" b="0"/>
            </a:stretch>
          </a:blipFill>
        </p:spPr>
      </p:sp>
      <p:sp>
        <p:nvSpPr>
          <p:cNvPr name="TextBox 11" id="11"/>
          <p:cNvSpPr txBox="true"/>
          <p:nvPr/>
        </p:nvSpPr>
        <p:spPr>
          <a:xfrm rot="0">
            <a:off x="697085" y="477579"/>
            <a:ext cx="16893830" cy="15362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PENGUJIAN DAN HASIL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0">
            <a:off x="-5547305" y="-985375"/>
            <a:ext cx="7820855" cy="5894970"/>
          </a:xfrm>
          <a:custGeom>
            <a:avLst/>
            <a:gdLst/>
            <a:ahLst/>
            <a:cxnLst/>
            <a:rect r="r" b="b" t="t" l="l"/>
            <a:pathLst>
              <a:path h="5894970" w="7820855">
                <a:moveTo>
                  <a:pt x="0" y="0"/>
                </a:moveTo>
                <a:lnTo>
                  <a:pt x="7820856" y="0"/>
                </a:lnTo>
                <a:lnTo>
                  <a:pt x="7820856" y="5894969"/>
                </a:lnTo>
                <a:lnTo>
                  <a:pt x="0" y="5894969"/>
                </a:lnTo>
                <a:lnTo>
                  <a:pt x="0" y="0"/>
                </a:lnTo>
                <a:close/>
              </a:path>
            </a:pathLst>
          </a:custGeom>
          <a:blipFill>
            <a:blip r:embed="rId2"/>
            <a:stretch>
              <a:fillRect l="0" t="0" r="0" b="0"/>
            </a:stretch>
          </a:blipFill>
        </p:spPr>
      </p:sp>
      <p:sp>
        <p:nvSpPr>
          <p:cNvPr name="Freeform 3" id="3"/>
          <p:cNvSpPr/>
          <p:nvPr/>
        </p:nvSpPr>
        <p:spPr>
          <a:xfrm flipH="false" flipV="false" rot="7801854">
            <a:off x="-2407158" y="6306171"/>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3006746">
            <a:off x="14155057" y="-4480306"/>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1259245" y="3105190"/>
            <a:ext cx="12767680" cy="6153110"/>
            <a:chOff x="0" y="0"/>
            <a:chExt cx="4386178" cy="2113825"/>
          </a:xfrm>
        </p:grpSpPr>
        <p:sp>
          <p:nvSpPr>
            <p:cNvPr name="Freeform 6" id="6"/>
            <p:cNvSpPr/>
            <p:nvPr/>
          </p:nvSpPr>
          <p:spPr>
            <a:xfrm flipH="false" flipV="false" rot="0">
              <a:off x="0" y="0"/>
              <a:ext cx="4386178" cy="2113824"/>
            </a:xfrm>
            <a:custGeom>
              <a:avLst/>
              <a:gdLst/>
              <a:ahLst/>
              <a:cxnLst/>
              <a:rect r="r" b="b" t="t" l="l"/>
              <a:pathLst>
                <a:path h="2113824" w="4386178">
                  <a:moveTo>
                    <a:pt x="30318" y="0"/>
                  </a:moveTo>
                  <a:lnTo>
                    <a:pt x="4355859" y="0"/>
                  </a:lnTo>
                  <a:cubicBezTo>
                    <a:pt x="4363900" y="0"/>
                    <a:pt x="4371612" y="3194"/>
                    <a:pt x="4377298" y="8880"/>
                  </a:cubicBezTo>
                  <a:cubicBezTo>
                    <a:pt x="4382983" y="14566"/>
                    <a:pt x="4386178" y="22277"/>
                    <a:pt x="4386178" y="30318"/>
                  </a:cubicBezTo>
                  <a:lnTo>
                    <a:pt x="4386178" y="2083506"/>
                  </a:lnTo>
                  <a:cubicBezTo>
                    <a:pt x="4386178" y="2100250"/>
                    <a:pt x="4372604" y="2113824"/>
                    <a:pt x="4355859" y="2113824"/>
                  </a:cubicBezTo>
                  <a:lnTo>
                    <a:pt x="30318" y="2113824"/>
                  </a:lnTo>
                  <a:cubicBezTo>
                    <a:pt x="22277" y="2113824"/>
                    <a:pt x="14566" y="2110630"/>
                    <a:pt x="8880" y="2104944"/>
                  </a:cubicBezTo>
                  <a:cubicBezTo>
                    <a:pt x="3194" y="2099259"/>
                    <a:pt x="0" y="2091547"/>
                    <a:pt x="0" y="2083506"/>
                  </a:cubicBezTo>
                  <a:lnTo>
                    <a:pt x="0" y="30318"/>
                  </a:lnTo>
                  <a:cubicBezTo>
                    <a:pt x="0" y="22277"/>
                    <a:pt x="3194" y="14566"/>
                    <a:pt x="8880" y="8880"/>
                  </a:cubicBezTo>
                  <a:cubicBezTo>
                    <a:pt x="14566" y="3194"/>
                    <a:pt x="22277" y="0"/>
                    <a:pt x="30318" y="0"/>
                  </a:cubicBezTo>
                  <a:close/>
                </a:path>
              </a:pathLst>
            </a:custGeom>
            <a:solidFill>
              <a:srgbClr val="FFDCED"/>
            </a:solidFill>
          </p:spPr>
        </p:sp>
        <p:sp>
          <p:nvSpPr>
            <p:cNvPr name="TextBox 7" id="7"/>
            <p:cNvSpPr txBox="true"/>
            <p:nvPr/>
          </p:nvSpPr>
          <p:spPr>
            <a:xfrm>
              <a:off x="0" y="-38100"/>
              <a:ext cx="4386178" cy="215192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4026925" y="5533946"/>
            <a:ext cx="7820855" cy="5894970"/>
          </a:xfrm>
          <a:custGeom>
            <a:avLst/>
            <a:gdLst/>
            <a:ahLst/>
            <a:cxnLst/>
            <a:rect r="r" b="b" t="t" l="l"/>
            <a:pathLst>
              <a:path h="5894970" w="7820855">
                <a:moveTo>
                  <a:pt x="0" y="0"/>
                </a:moveTo>
                <a:lnTo>
                  <a:pt x="7820855" y="0"/>
                </a:lnTo>
                <a:lnTo>
                  <a:pt x="7820855" y="5894969"/>
                </a:lnTo>
                <a:lnTo>
                  <a:pt x="0" y="5894969"/>
                </a:lnTo>
                <a:lnTo>
                  <a:pt x="0" y="0"/>
                </a:lnTo>
                <a:close/>
              </a:path>
            </a:pathLst>
          </a:custGeom>
          <a:blipFill>
            <a:blip r:embed="rId2"/>
            <a:stretch>
              <a:fillRect l="0" t="0" r="0" b="0"/>
            </a:stretch>
          </a:blipFill>
        </p:spPr>
      </p:sp>
      <p:sp>
        <p:nvSpPr>
          <p:cNvPr name="Freeform 9" id="9"/>
          <p:cNvSpPr/>
          <p:nvPr/>
        </p:nvSpPr>
        <p:spPr>
          <a:xfrm flipH="false" flipV="false" rot="0">
            <a:off x="16376484" y="2385271"/>
            <a:ext cx="1560869" cy="1560869"/>
          </a:xfrm>
          <a:custGeom>
            <a:avLst/>
            <a:gdLst/>
            <a:ahLst/>
            <a:cxnLst/>
            <a:rect r="r" b="b" t="t" l="l"/>
            <a:pathLst>
              <a:path h="1560869" w="1560869">
                <a:moveTo>
                  <a:pt x="0" y="0"/>
                </a:moveTo>
                <a:lnTo>
                  <a:pt x="1560869" y="0"/>
                </a:lnTo>
                <a:lnTo>
                  <a:pt x="1560869" y="1560869"/>
                </a:lnTo>
                <a:lnTo>
                  <a:pt x="0" y="1560869"/>
                </a:lnTo>
                <a:lnTo>
                  <a:pt x="0" y="0"/>
                </a:lnTo>
                <a:close/>
              </a:path>
            </a:pathLst>
          </a:custGeom>
          <a:blipFill>
            <a:blip r:embed="rId4"/>
            <a:stretch>
              <a:fillRect l="0" t="0" r="0" b="0"/>
            </a:stretch>
          </a:blipFill>
        </p:spPr>
      </p:sp>
      <p:sp>
        <p:nvSpPr>
          <p:cNvPr name="TextBox 10" id="10"/>
          <p:cNvSpPr txBox="true"/>
          <p:nvPr/>
        </p:nvSpPr>
        <p:spPr>
          <a:xfrm rot="0">
            <a:off x="2273551" y="3089506"/>
            <a:ext cx="10720823" cy="6494179"/>
          </a:xfrm>
          <a:prstGeom prst="rect">
            <a:avLst/>
          </a:prstGeom>
        </p:spPr>
        <p:txBody>
          <a:bodyPr anchor="t" rtlCol="false" tIns="0" lIns="0" bIns="0" rIns="0">
            <a:spAutoFit/>
          </a:bodyPr>
          <a:lstStyle/>
          <a:p>
            <a:pPr algn="just">
              <a:lnSpc>
                <a:spcPts val="4002"/>
              </a:lnSpc>
              <a:spcBef>
                <a:spcPct val="0"/>
              </a:spcBef>
            </a:pPr>
            <a:r>
              <a:rPr lang="en-US" sz="2858" spc="-57">
                <a:solidFill>
                  <a:srgbClr val="094595"/>
                </a:solidFill>
                <a:latin typeface="Poppins"/>
                <a:ea typeface="Poppins"/>
                <a:cs typeface="Poppins"/>
                <a:sym typeface="Poppins"/>
              </a:rPr>
              <a:t>Pengujian sistem dilakukan untuk memastikan semua fitur berjalan sesuai harapan. Aplikasi berhasil menambahkan, menampilkan, dan menghapus data murid dengan tepat. Status murid ditentukan otomatis berdasarkan kehadiran dan nilai, sehingga penilaian objektif dan konsisten. Data tersimpan di file teks dan dapat dibaca kembali tanpa kehilangan informasi. Fitur laporan menghasilkan file teks yang memuat nama, status, nilai akhir, dan paket les, memudahkan pengelola memantau perkembangan murid secara cepat dan akurat. Secara keseluruhan, aplikasi mampu mengelola data murid dengan aman, rapi, dan memberikan output yang mudah dipahami.</a:t>
            </a:r>
          </a:p>
          <a:p>
            <a:pPr algn="just">
              <a:lnSpc>
                <a:spcPts val="4002"/>
              </a:lnSpc>
              <a:spcBef>
                <a:spcPct val="0"/>
              </a:spcBef>
            </a:pPr>
          </a:p>
        </p:txBody>
      </p:sp>
      <p:sp>
        <p:nvSpPr>
          <p:cNvPr name="TextBox 11" id="11"/>
          <p:cNvSpPr txBox="true"/>
          <p:nvPr/>
        </p:nvSpPr>
        <p:spPr>
          <a:xfrm rot="0">
            <a:off x="849485" y="629979"/>
            <a:ext cx="16893830" cy="1536218"/>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PENGUJIAN DAN HASIL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Freeform 2" id="2"/>
          <p:cNvSpPr/>
          <p:nvPr/>
        </p:nvSpPr>
        <p:spPr>
          <a:xfrm flipH="false" flipV="false" rot="3616460">
            <a:off x="13823442" y="5143500"/>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6753573">
            <a:off x="-2060772" y="-4632112"/>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4" id="4"/>
          <p:cNvSpPr/>
          <p:nvPr/>
        </p:nvSpPr>
        <p:spPr>
          <a:xfrm flipH="false" flipV="false" rot="1472379">
            <a:off x="11832177" y="-5691653"/>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1472379">
            <a:off x="334895" y="7552913"/>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6" id="6"/>
          <p:cNvSpPr/>
          <p:nvPr/>
        </p:nvSpPr>
        <p:spPr>
          <a:xfrm flipH="false" flipV="false" rot="0">
            <a:off x="9491200" y="2728529"/>
            <a:ext cx="8341458" cy="5560972"/>
          </a:xfrm>
          <a:custGeom>
            <a:avLst/>
            <a:gdLst/>
            <a:ahLst/>
            <a:cxnLst/>
            <a:rect r="r" b="b" t="t" l="l"/>
            <a:pathLst>
              <a:path h="5560972" w="8341458">
                <a:moveTo>
                  <a:pt x="0" y="0"/>
                </a:moveTo>
                <a:lnTo>
                  <a:pt x="8341458" y="0"/>
                </a:lnTo>
                <a:lnTo>
                  <a:pt x="8341458" y="5560972"/>
                </a:lnTo>
                <a:lnTo>
                  <a:pt x="0" y="5560972"/>
                </a:lnTo>
                <a:lnTo>
                  <a:pt x="0" y="0"/>
                </a:lnTo>
                <a:close/>
              </a:path>
            </a:pathLst>
          </a:custGeom>
          <a:blipFill>
            <a:blip r:embed="rId4"/>
            <a:stretch>
              <a:fillRect l="0" t="0" r="0" b="0"/>
            </a:stretch>
          </a:blipFill>
        </p:spPr>
      </p:sp>
      <p:sp>
        <p:nvSpPr>
          <p:cNvPr name="Freeform 7" id="7"/>
          <p:cNvSpPr/>
          <p:nvPr/>
        </p:nvSpPr>
        <p:spPr>
          <a:xfrm flipH="false" flipV="false" rot="0">
            <a:off x="17141285" y="2155171"/>
            <a:ext cx="1146715" cy="1146715"/>
          </a:xfrm>
          <a:custGeom>
            <a:avLst/>
            <a:gdLst/>
            <a:ahLst/>
            <a:cxnLst/>
            <a:rect r="r" b="b" t="t" l="l"/>
            <a:pathLst>
              <a:path h="1146715" w="1146715">
                <a:moveTo>
                  <a:pt x="0" y="0"/>
                </a:moveTo>
                <a:lnTo>
                  <a:pt x="1146715" y="0"/>
                </a:lnTo>
                <a:lnTo>
                  <a:pt x="1146715" y="1146716"/>
                </a:lnTo>
                <a:lnTo>
                  <a:pt x="0" y="1146716"/>
                </a:lnTo>
                <a:lnTo>
                  <a:pt x="0" y="0"/>
                </a:lnTo>
                <a:close/>
              </a:path>
            </a:pathLst>
          </a:custGeom>
          <a:blipFill>
            <a:blip r:embed="rId5"/>
            <a:stretch>
              <a:fillRect l="0" t="0" r="0" b="0"/>
            </a:stretch>
          </a:blipFill>
        </p:spPr>
      </p:sp>
      <p:sp>
        <p:nvSpPr>
          <p:cNvPr name="TextBox 8" id="8"/>
          <p:cNvSpPr txBox="true"/>
          <p:nvPr/>
        </p:nvSpPr>
        <p:spPr>
          <a:xfrm rot="0">
            <a:off x="3474490" y="501412"/>
            <a:ext cx="11339020" cy="1536240"/>
          </a:xfrm>
          <a:prstGeom prst="rect">
            <a:avLst/>
          </a:prstGeom>
        </p:spPr>
        <p:txBody>
          <a:bodyPr anchor="t" rtlCol="false" tIns="0" lIns="0" bIns="0" rIns="0">
            <a:spAutoFit/>
          </a:bodyPr>
          <a:lstStyle/>
          <a:p>
            <a:pPr algn="ctr">
              <a:lnSpc>
                <a:spcPts val="11448"/>
              </a:lnSpc>
            </a:pPr>
            <a:r>
              <a:rPr lang="en-US" sz="9620">
                <a:solidFill>
                  <a:srgbClr val="093C80"/>
                </a:solidFill>
                <a:latin typeface="Brasika"/>
                <a:ea typeface="Brasika"/>
                <a:cs typeface="Brasika"/>
                <a:sym typeface="Brasika"/>
              </a:rPr>
              <a:t>KESIMPULAN</a:t>
            </a:r>
          </a:p>
        </p:txBody>
      </p:sp>
      <p:sp>
        <p:nvSpPr>
          <p:cNvPr name="TextBox 9" id="9"/>
          <p:cNvSpPr txBox="true"/>
          <p:nvPr/>
        </p:nvSpPr>
        <p:spPr>
          <a:xfrm rot="0">
            <a:off x="721152" y="2312138"/>
            <a:ext cx="8422848" cy="6683963"/>
          </a:xfrm>
          <a:prstGeom prst="rect">
            <a:avLst/>
          </a:prstGeom>
        </p:spPr>
        <p:txBody>
          <a:bodyPr anchor="t" rtlCol="false" tIns="0" lIns="0" bIns="0" rIns="0">
            <a:spAutoFit/>
          </a:bodyPr>
          <a:lstStyle/>
          <a:p>
            <a:pPr algn="just">
              <a:lnSpc>
                <a:spcPts val="3817"/>
              </a:lnSpc>
              <a:spcBef>
                <a:spcPct val="0"/>
              </a:spcBef>
            </a:pPr>
            <a:r>
              <a:rPr lang="en-US" sz="2726" spc="-54">
                <a:solidFill>
                  <a:srgbClr val="094595"/>
                </a:solidFill>
                <a:latin typeface="Poppins"/>
                <a:ea typeface="Poppins"/>
                <a:cs typeface="Poppins"/>
                <a:sym typeface="Poppins"/>
              </a:rPr>
              <a:t>Aplikasi Pemantauan Perkembangan Murid Les Privat berhasil membangun sistem yang rapi, terstruktur, dan efisien untuk pengelolaan data murid. Semua data murid, termasuk nama, kehadiran, nilai, dan paket les, tersimpan dengan aman, status murid ditentukan otomatis, dan laporan dapat dicetak dengan mudah. Untuk pengembangan selanjutnya, aplikasi dapat ditambahkan fitur pencarian dan pengeditan data, penggunaan basis data untuk penyimpanan lebih aman, laporan dalam format PDF atau Excel, serta sistem autentikasi pengguna agar keamanan data lebih terjaga.</a:t>
            </a:r>
          </a:p>
          <a:p>
            <a:pPr algn="just">
              <a:lnSpc>
                <a:spcPts val="3817"/>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1E1"/>
        </a:solidFill>
      </p:bgPr>
    </p:bg>
    <p:spTree>
      <p:nvGrpSpPr>
        <p:cNvPr id="1" name=""/>
        <p:cNvGrpSpPr/>
        <p:nvPr/>
      </p:nvGrpSpPr>
      <p:grpSpPr>
        <a:xfrm>
          <a:off x="0" y="0"/>
          <a:ext cx="0" cy="0"/>
          <a:chOff x="0" y="0"/>
          <a:chExt cx="0" cy="0"/>
        </a:xfrm>
      </p:grpSpPr>
      <p:sp>
        <p:nvSpPr>
          <p:cNvPr name="TextBox 2" id="2"/>
          <p:cNvSpPr txBox="true"/>
          <p:nvPr/>
        </p:nvSpPr>
        <p:spPr>
          <a:xfrm rot="0">
            <a:off x="2400752" y="2945948"/>
            <a:ext cx="13486495" cy="4280803"/>
          </a:xfrm>
          <a:prstGeom prst="rect">
            <a:avLst/>
          </a:prstGeom>
        </p:spPr>
        <p:txBody>
          <a:bodyPr anchor="t" rtlCol="false" tIns="0" lIns="0" bIns="0" rIns="0">
            <a:spAutoFit/>
          </a:bodyPr>
          <a:lstStyle/>
          <a:p>
            <a:pPr algn="ctr">
              <a:lnSpc>
                <a:spcPts val="16350"/>
              </a:lnSpc>
            </a:pPr>
            <a:r>
              <a:rPr lang="en-US" sz="13740">
                <a:solidFill>
                  <a:srgbClr val="093C80"/>
                </a:solidFill>
                <a:latin typeface="Brasika"/>
                <a:ea typeface="Brasika"/>
                <a:cs typeface="Brasika"/>
                <a:sym typeface="Brasika"/>
              </a:rPr>
              <a:t>TERIMA KASIH</a:t>
            </a:r>
          </a:p>
        </p:txBody>
      </p:sp>
      <p:sp>
        <p:nvSpPr>
          <p:cNvPr name="Freeform 3" id="3"/>
          <p:cNvSpPr/>
          <p:nvPr/>
        </p:nvSpPr>
        <p:spPr>
          <a:xfrm flipH="false" flipV="false" rot="-2795329">
            <a:off x="13563652" y="-3987989"/>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4" id="4"/>
          <p:cNvSpPr/>
          <p:nvPr/>
        </p:nvSpPr>
        <p:spPr>
          <a:xfrm flipH="false" flipV="false" rot="-6753573">
            <a:off x="-1902184" y="-3987989"/>
            <a:ext cx="6871716" cy="8229600"/>
          </a:xfrm>
          <a:custGeom>
            <a:avLst/>
            <a:gdLst/>
            <a:ahLst/>
            <a:cxnLst/>
            <a:rect r="r" b="b" t="t" l="l"/>
            <a:pathLst>
              <a:path h="8229600" w="6871716">
                <a:moveTo>
                  <a:pt x="0" y="0"/>
                </a:moveTo>
                <a:lnTo>
                  <a:pt x="6871716" y="0"/>
                </a:lnTo>
                <a:lnTo>
                  <a:pt x="6871716" y="8229600"/>
                </a:lnTo>
                <a:lnTo>
                  <a:pt x="0" y="8229600"/>
                </a:lnTo>
                <a:lnTo>
                  <a:pt x="0" y="0"/>
                </a:lnTo>
                <a:close/>
              </a:path>
            </a:pathLst>
          </a:custGeom>
          <a:blipFill>
            <a:blip r:embed="rId2"/>
            <a:stretch>
              <a:fillRect l="0" t="0" r="0" b="0"/>
            </a:stretch>
          </a:blipFill>
        </p:spPr>
      </p:sp>
      <p:sp>
        <p:nvSpPr>
          <p:cNvPr name="Freeform 5" id="5"/>
          <p:cNvSpPr/>
          <p:nvPr/>
        </p:nvSpPr>
        <p:spPr>
          <a:xfrm flipH="false" flipV="false" rot="0">
            <a:off x="-3584411" y="5143500"/>
            <a:ext cx="11970327" cy="8229600"/>
          </a:xfrm>
          <a:custGeom>
            <a:avLst/>
            <a:gdLst/>
            <a:ahLst/>
            <a:cxnLst/>
            <a:rect r="r" b="b" t="t" l="l"/>
            <a:pathLst>
              <a:path h="8229600" w="11970327">
                <a:moveTo>
                  <a:pt x="0" y="0"/>
                </a:moveTo>
                <a:lnTo>
                  <a:pt x="11970327" y="0"/>
                </a:lnTo>
                <a:lnTo>
                  <a:pt x="11970327" y="8229600"/>
                </a:lnTo>
                <a:lnTo>
                  <a:pt x="0" y="8229600"/>
                </a:lnTo>
                <a:lnTo>
                  <a:pt x="0" y="0"/>
                </a:lnTo>
                <a:close/>
              </a:path>
            </a:pathLst>
          </a:custGeom>
          <a:blipFill>
            <a:blip r:embed="rId3"/>
            <a:stretch>
              <a:fillRect l="0" t="0" r="0" b="0"/>
            </a:stretch>
          </a:blipFill>
        </p:spPr>
      </p:sp>
      <p:sp>
        <p:nvSpPr>
          <p:cNvPr name="Freeform 6" id="6"/>
          <p:cNvSpPr/>
          <p:nvPr/>
        </p:nvSpPr>
        <p:spPr>
          <a:xfrm flipH="true" flipV="false" rot="0">
            <a:off x="10678405" y="5143500"/>
            <a:ext cx="11970327" cy="8229600"/>
          </a:xfrm>
          <a:custGeom>
            <a:avLst/>
            <a:gdLst/>
            <a:ahLst/>
            <a:cxnLst/>
            <a:rect r="r" b="b" t="t" l="l"/>
            <a:pathLst>
              <a:path h="8229600" w="11970327">
                <a:moveTo>
                  <a:pt x="11970327" y="0"/>
                </a:moveTo>
                <a:lnTo>
                  <a:pt x="0" y="0"/>
                </a:lnTo>
                <a:lnTo>
                  <a:pt x="0" y="8229600"/>
                </a:lnTo>
                <a:lnTo>
                  <a:pt x="11970327" y="8229600"/>
                </a:lnTo>
                <a:lnTo>
                  <a:pt x="11970327" y="0"/>
                </a:lnTo>
                <a:close/>
              </a:path>
            </a:pathLst>
          </a:custGeom>
          <a:blipFill>
            <a:blip r:embed="rId3"/>
            <a:stretch>
              <a:fillRect l="0" t="0" r="0" b="0"/>
            </a:stretch>
          </a:blipFill>
        </p:spPr>
      </p:sp>
      <p:sp>
        <p:nvSpPr>
          <p:cNvPr name="Freeform 7" id="7"/>
          <p:cNvSpPr/>
          <p:nvPr/>
        </p:nvSpPr>
        <p:spPr>
          <a:xfrm flipH="false" flipV="false" rot="0">
            <a:off x="12726807" y="6098390"/>
            <a:ext cx="2256724" cy="2256724"/>
          </a:xfrm>
          <a:custGeom>
            <a:avLst/>
            <a:gdLst/>
            <a:ahLst/>
            <a:cxnLst/>
            <a:rect r="r" b="b" t="t" l="l"/>
            <a:pathLst>
              <a:path h="2256724" w="2256724">
                <a:moveTo>
                  <a:pt x="0" y="0"/>
                </a:moveTo>
                <a:lnTo>
                  <a:pt x="2256724" y="0"/>
                </a:lnTo>
                <a:lnTo>
                  <a:pt x="2256724" y="2256724"/>
                </a:lnTo>
                <a:lnTo>
                  <a:pt x="0" y="2256724"/>
                </a:lnTo>
                <a:lnTo>
                  <a:pt x="0" y="0"/>
                </a:lnTo>
                <a:close/>
              </a:path>
            </a:pathLst>
          </a:custGeom>
          <a:blipFill>
            <a:blip r:embed="rId4"/>
            <a:stretch>
              <a:fillRect l="0" t="0" r="0" b="0"/>
            </a:stretch>
          </a:blipFill>
        </p:spPr>
      </p:sp>
      <p:sp>
        <p:nvSpPr>
          <p:cNvPr name="Freeform 8" id="8"/>
          <p:cNvSpPr/>
          <p:nvPr/>
        </p:nvSpPr>
        <p:spPr>
          <a:xfrm flipH="false" flipV="false" rot="0">
            <a:off x="3133543" y="1891009"/>
            <a:ext cx="1523222" cy="1523222"/>
          </a:xfrm>
          <a:custGeom>
            <a:avLst/>
            <a:gdLst/>
            <a:ahLst/>
            <a:cxnLst/>
            <a:rect r="r" b="b" t="t" l="l"/>
            <a:pathLst>
              <a:path h="1523222" w="1523222">
                <a:moveTo>
                  <a:pt x="0" y="0"/>
                </a:moveTo>
                <a:lnTo>
                  <a:pt x="1523223" y="0"/>
                </a:lnTo>
                <a:lnTo>
                  <a:pt x="1523223" y="1523222"/>
                </a:lnTo>
                <a:lnTo>
                  <a:pt x="0" y="1523222"/>
                </a:lnTo>
                <a:lnTo>
                  <a:pt x="0" y="0"/>
                </a:lnTo>
                <a:close/>
              </a:path>
            </a:pathLst>
          </a:custGeom>
          <a:blipFill>
            <a:blip r:embed="rId4"/>
            <a:stretch>
              <a:fillRect l="0" t="0" r="0" b="0"/>
            </a:stretch>
          </a:blipFill>
        </p:spPr>
      </p:sp>
      <p:sp>
        <p:nvSpPr>
          <p:cNvPr name="Freeform 9" id="9"/>
          <p:cNvSpPr/>
          <p:nvPr/>
        </p:nvSpPr>
        <p:spPr>
          <a:xfrm flipH="false" flipV="false" rot="0">
            <a:off x="-1494294" y="-761519"/>
            <a:ext cx="5418269" cy="4345223"/>
          </a:xfrm>
          <a:custGeom>
            <a:avLst/>
            <a:gdLst/>
            <a:ahLst/>
            <a:cxnLst/>
            <a:rect r="r" b="b" t="t" l="l"/>
            <a:pathLst>
              <a:path h="4345223" w="5418269">
                <a:moveTo>
                  <a:pt x="0" y="0"/>
                </a:moveTo>
                <a:lnTo>
                  <a:pt x="5418269" y="0"/>
                </a:lnTo>
                <a:lnTo>
                  <a:pt x="5418269" y="4345223"/>
                </a:lnTo>
                <a:lnTo>
                  <a:pt x="0" y="4345223"/>
                </a:lnTo>
                <a:lnTo>
                  <a:pt x="0" y="0"/>
                </a:lnTo>
                <a:close/>
              </a:path>
            </a:pathLst>
          </a:custGeom>
          <a:blipFill>
            <a:blip r:embed="rId5"/>
            <a:stretch>
              <a:fillRect l="0" t="0" r="0" b="0"/>
            </a:stretch>
          </a:blipFill>
        </p:spPr>
      </p:sp>
      <p:sp>
        <p:nvSpPr>
          <p:cNvPr name="Freeform 10" id="10"/>
          <p:cNvSpPr/>
          <p:nvPr/>
        </p:nvSpPr>
        <p:spPr>
          <a:xfrm flipH="true" flipV="false" rot="0">
            <a:off x="14290376" y="-761519"/>
            <a:ext cx="5418269" cy="4345223"/>
          </a:xfrm>
          <a:custGeom>
            <a:avLst/>
            <a:gdLst/>
            <a:ahLst/>
            <a:cxnLst/>
            <a:rect r="r" b="b" t="t" l="l"/>
            <a:pathLst>
              <a:path h="4345223" w="5418269">
                <a:moveTo>
                  <a:pt x="5418269" y="0"/>
                </a:moveTo>
                <a:lnTo>
                  <a:pt x="0" y="0"/>
                </a:lnTo>
                <a:lnTo>
                  <a:pt x="0" y="4345223"/>
                </a:lnTo>
                <a:lnTo>
                  <a:pt x="5418269" y="4345223"/>
                </a:lnTo>
                <a:lnTo>
                  <a:pt x="5418269" y="0"/>
                </a:lnTo>
                <a:close/>
              </a:path>
            </a:pathLst>
          </a:custGeom>
          <a:blipFill>
            <a:blip r:embed="rId5"/>
            <a:stretch>
              <a:fillRect l="0" t="0" r="0" b="0"/>
            </a:stretch>
          </a:blipFill>
        </p:spPr>
      </p:sp>
      <p:sp>
        <p:nvSpPr>
          <p:cNvPr name="Freeform 11" id="11"/>
          <p:cNvSpPr/>
          <p:nvPr/>
        </p:nvSpPr>
        <p:spPr>
          <a:xfrm flipH="false" flipV="false" rot="0">
            <a:off x="3133543" y="6098390"/>
            <a:ext cx="2256724" cy="2256724"/>
          </a:xfrm>
          <a:custGeom>
            <a:avLst/>
            <a:gdLst/>
            <a:ahLst/>
            <a:cxnLst/>
            <a:rect r="r" b="b" t="t" l="l"/>
            <a:pathLst>
              <a:path h="2256724" w="2256724">
                <a:moveTo>
                  <a:pt x="0" y="0"/>
                </a:moveTo>
                <a:lnTo>
                  <a:pt x="2256724" y="0"/>
                </a:lnTo>
                <a:lnTo>
                  <a:pt x="2256724" y="2256724"/>
                </a:lnTo>
                <a:lnTo>
                  <a:pt x="0" y="2256724"/>
                </a:lnTo>
                <a:lnTo>
                  <a:pt x="0" y="0"/>
                </a:lnTo>
                <a:close/>
              </a:path>
            </a:pathLst>
          </a:custGeom>
          <a:blipFill>
            <a:blip r:embed="rId4"/>
            <a:stretch>
              <a:fillRect l="0" t="0" r="0" b="0"/>
            </a:stretch>
          </a:blipFill>
        </p:spPr>
      </p:sp>
      <p:sp>
        <p:nvSpPr>
          <p:cNvPr name="Freeform 12" id="12"/>
          <p:cNvSpPr/>
          <p:nvPr/>
        </p:nvSpPr>
        <p:spPr>
          <a:xfrm flipH="false" flipV="false" rot="0">
            <a:off x="13460309" y="1891009"/>
            <a:ext cx="1523222" cy="1523222"/>
          </a:xfrm>
          <a:custGeom>
            <a:avLst/>
            <a:gdLst/>
            <a:ahLst/>
            <a:cxnLst/>
            <a:rect r="r" b="b" t="t" l="l"/>
            <a:pathLst>
              <a:path h="1523222" w="1523222">
                <a:moveTo>
                  <a:pt x="0" y="0"/>
                </a:moveTo>
                <a:lnTo>
                  <a:pt x="1523222" y="0"/>
                </a:lnTo>
                <a:lnTo>
                  <a:pt x="1523222" y="1523222"/>
                </a:lnTo>
                <a:lnTo>
                  <a:pt x="0" y="1523222"/>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DAG-mfDoqJ4</dc:identifier>
  <dcterms:modified xsi:type="dcterms:W3CDTF">2011-08-01T06:04:30Z</dcterms:modified>
  <cp:revision>1</cp:revision>
  <dc:title>APLIKASI pEMANTAUAN</dc:title>
</cp:coreProperties>
</file>